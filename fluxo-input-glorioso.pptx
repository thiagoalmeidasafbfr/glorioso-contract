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991295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PROPOSTA · v4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Fluxo de Input das Informações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 negociação sigilosa do departamento de futebol ao consumo contínuo pelas áreas financeiras. Quatro fases, um único banco de dados.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4937760"/>
            <a:ext cx="2682164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12064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5440680"/>
            <a:ext cx="2316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Negociação (sigilosa)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22244" y="4937760"/>
            <a:ext cx="2682164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512064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05124" y="5440680"/>
            <a:ext cx="2316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 registra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87288" y="4937760"/>
            <a:ext cx="2682164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0168" y="512064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70168" y="5440680"/>
            <a:ext cx="2316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52331" y="4937760"/>
            <a:ext cx="2682164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211" y="5120640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235211" y="5440680"/>
            <a:ext cx="23164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Consumo por 4 áreas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Documento interno · sujeito a validação com as áreas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274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4008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Como a informação circula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Fluxograma em 4 fases · schema atleta-central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Negociação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sigilo interno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assinado &amp; registrado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validação do dado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5257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5486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Consumo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57150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contínuo por área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74520" y="1783080"/>
            <a:ext cx="0" cy="434340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1828800"/>
            <a:ext cx="9677095" cy="777240"/>
          </a:xfrm>
          <a:prstGeom prst="rect">
            <a:avLst/>
          </a:prstGeom>
          <a:solidFill>
            <a:srgbClr val="EEEDEA"/>
          </a:solidFill>
          <a:ln w="9525">
            <a:solidFill>
              <a:srgbClr val="BEBAB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2240280" y="1920240"/>
            <a:ext cx="9311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DEPARTAMENTO DE FUTEBOL · INTERNO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40280" y="2148840"/>
            <a:ext cx="9311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Negociação em andamento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240280" y="2377440"/>
            <a:ext cx="9311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Informação sigilosa — para a companhia, essa negociação ainda não existe.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95948" y="2606040"/>
            <a:ext cx="0" cy="164592"/>
          </a:xfrm>
          <a:prstGeom prst="line">
            <a:avLst/>
          </a:prstGeom>
          <a:noFill/>
          <a:ln w="15875">
            <a:solidFill>
              <a:srgbClr val="100D0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057400" y="2788920"/>
            <a:ext cx="9677095" cy="960120"/>
          </a:xfrm>
          <a:prstGeom prst="rect">
            <a:avLst/>
          </a:prstGeom>
          <a:solidFill>
            <a:srgbClr val="FFFFFF"/>
          </a:solidFill>
          <a:ln w="17780">
            <a:solidFill>
              <a:srgbClr val="8F6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0280" y="2880360"/>
            <a:ext cx="9311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CARREGA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240280" y="3090672"/>
            <a:ext cx="9311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 registra tudo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24028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4028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 + aditivos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8620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8620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Cláusulas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53212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3212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Remuneração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7804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Contrapartes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823960" y="3401568"/>
            <a:ext cx="1554480" cy="256032"/>
          </a:xfrm>
          <a:prstGeom prst="rect">
            <a:avLst/>
          </a:prstGeom>
          <a:solidFill>
            <a:srgbClr val="F2EFE8"/>
          </a:solidFill>
          <a:ln w="6350">
            <a:solidFill>
              <a:srgbClr val="E0D4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23960" y="34015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PDF do contrato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895948" y="3749040"/>
            <a:ext cx="0" cy="118872"/>
          </a:xfrm>
          <a:prstGeom prst="line">
            <a:avLst/>
          </a:prstGeom>
          <a:noFill/>
          <a:ln w="15875">
            <a:solidFill>
              <a:srgbClr val="100D0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057400" y="3886200"/>
            <a:ext cx="9677095" cy="822960"/>
          </a:xfrm>
          <a:prstGeom prst="roundRect">
            <a:avLst>
              <a:gd name="adj" fmla="val 8889"/>
            </a:avLst>
          </a:prstGeom>
          <a:solidFill>
            <a:srgbClr val="F3F2EF"/>
          </a:solidFill>
          <a:ln w="15240">
            <a:solidFill>
              <a:srgbClr val="100D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40280" y="3959352"/>
            <a:ext cx="9311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BANCO DE DADOS · SCHEMA ATLETA-CENTRAL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240280" y="4197096"/>
            <a:ext cx="931133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240280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ac_atletas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102547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ac_contratos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964814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ac_clausulas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827081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ac_remuneracoes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689348" y="4270248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ac_obrigacoes_financeiras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240280" y="4471416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ac_parcelas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102547" y="4471416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ac_entidades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964814" y="4471416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ac_taxas_cambio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827081" y="4471416"/>
            <a:ext cx="18622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ac_documentos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95948" y="4709160"/>
            <a:ext cx="0" cy="274320"/>
          </a:xfrm>
          <a:prstGeom prst="line">
            <a:avLst/>
          </a:prstGeom>
          <a:noFill/>
          <a:ln w="15875">
            <a:solidFill>
              <a:srgbClr val="100D0A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2057400" y="4983480"/>
            <a:ext cx="4769968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1F567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221992" y="5056632"/>
            <a:ext cx="444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2221992" y="5239512"/>
            <a:ext cx="444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221992" y="5532120"/>
            <a:ext cx="444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 valor, moeda, contraparte, cronograma e rubrica × contrato.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964528" y="4983480"/>
            <a:ext cx="4769968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1F567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29120" y="5056632"/>
            <a:ext cx="444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129120" y="5239512"/>
            <a:ext cx="444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 Financeiro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129120" y="5532120"/>
            <a:ext cx="444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 financeiro: exposição, ownership e gatilhos batem com a negociação.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895948" y="5852160"/>
            <a:ext cx="0" cy="182880"/>
          </a:xfrm>
          <a:prstGeom prst="line">
            <a:avLst/>
          </a:prstGeom>
          <a:noFill/>
          <a:ln w="15875">
            <a:solidFill>
              <a:srgbClr val="100D0A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057400" y="6080760"/>
            <a:ext cx="2336978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2F6B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167128" y="6153912"/>
            <a:ext cx="211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TESOURARIA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167128" y="6318504"/>
            <a:ext cx="211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Caixa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4504106" y="6080760"/>
            <a:ext cx="2336978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F567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613834" y="6153912"/>
            <a:ext cx="211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613834" y="6318504"/>
            <a:ext cx="211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950812" y="6080760"/>
            <a:ext cx="2336978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8F6A2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60540" y="6153912"/>
            <a:ext cx="211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7060540" y="6318504"/>
            <a:ext cx="211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Risco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9397517" y="6080760"/>
            <a:ext cx="2336978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51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507245" y="6153912"/>
            <a:ext cx="211752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507245" y="6318504"/>
            <a:ext cx="211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Decisão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FLUXOGRAMA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274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4008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 · JURÍDICO REGISTRA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 assinado, informação vai ao sistema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Toda entrada passa pelo mesmo funil: + Criar (Assistente). O Jurídico transforma o contrato em dados estruturados — cláusulas condição→efeito, remuneração inicial, contrapartes e aditivos.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905695" y="8229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EEEDEA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2855" y="93268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ROTA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42855" y="1143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/criar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11277295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9525">
            <a:solidFill>
              <a:srgbClr val="D9D6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14600"/>
            <a:ext cx="1280160" cy="3794760"/>
          </a:xfrm>
          <a:prstGeom prst="rect">
            <a:avLst/>
          </a:prstGeom>
          <a:solidFill>
            <a:srgbClr val="1A1410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6243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280720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Gestão Contratual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1280160" cy="164592"/>
          </a:xfrm>
          <a:prstGeom prst="rect">
            <a:avLst/>
          </a:prstGeom>
          <a:solidFill>
            <a:srgbClr val="2A2521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063240"/>
            <a:ext cx="0" cy="164592"/>
          </a:xfrm>
          <a:prstGeom prst="line">
            <a:avLst/>
          </a:prstGeom>
          <a:noFill/>
          <a:ln w="25400">
            <a:solidFill>
              <a:srgbClr val="F3E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" y="307238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Criar (Assistente)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85216" y="325526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Dashboards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85216" y="343814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Atletas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85216" y="362102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Portfolio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5216" y="380390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Clubes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5216" y="398678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Agentes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5216" y="425196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6786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RELATÓRIOS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85216" y="446227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Visão por Atleta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85216" y="464515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Consolidado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5216" y="482803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Acordos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5216" y="501091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Vendas Futuras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85216" y="519379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Direitos Econ.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85216" y="537667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Gatilhos e Metas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85216" y="555955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Recuperação Jud.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5216" y="5824728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6786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DADOS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85216" y="6025896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Importar / Exportar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737360" y="2514600"/>
            <a:ext cx="9997135" cy="3794760"/>
          </a:xfrm>
          <a:prstGeom prst="rect">
            <a:avLst/>
          </a:prstGeom>
          <a:solidFill>
            <a:srgbClr val="F3F2EF"/>
          </a:solidFill>
          <a:ln/>
        </p:spPr>
      </p:sp>
      <p:sp>
        <p:nvSpPr>
          <p:cNvPr id="34" name="Text 32"/>
          <p:cNvSpPr/>
          <p:nvPr/>
        </p:nvSpPr>
        <p:spPr>
          <a:xfrm>
            <a:off x="1965960" y="2697480"/>
            <a:ext cx="6796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que você quer registrar?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965960" y="2990088"/>
            <a:ext cx="6796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Assistente de criação · Botafogo SAF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317175" y="2715768"/>
            <a:ext cx="1188720" cy="320040"/>
          </a:xfrm>
          <a:prstGeom prst="roundRect">
            <a:avLst>
              <a:gd name="adj" fmla="val 11429"/>
            </a:avLst>
          </a:prstGeom>
          <a:solidFill>
            <a:srgbClr val="100D0A"/>
          </a:solidFill>
          <a:ln w="6350">
            <a:solidFill>
              <a:srgbClr val="100D0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17175" y="271576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Continuar →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347911" y="2715768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BEBA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47911" y="2715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Cancelar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965960" y="3319272"/>
            <a:ext cx="953993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65960" y="3447288"/>
            <a:ext cx="95399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ESCOLHA O TIPO DE REGISTRO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965960" y="3703320"/>
            <a:ext cx="3088538" cy="1005840"/>
          </a:xfrm>
          <a:prstGeom prst="rect">
            <a:avLst/>
          </a:prstGeom>
          <a:solidFill>
            <a:srgbClr val="EDE5D5"/>
          </a:solidFill>
          <a:ln w="15240">
            <a:solidFill>
              <a:srgbClr val="8F6A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93976" y="3794760"/>
            <a:ext cx="28325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 · SELECIONADO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093976" y="3995928"/>
            <a:ext cx="28325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Trabalho (CLT + imagem)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093976" y="4233672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Salário, direito de imagem, luvas e bônus. PJ de imagem opcional.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093976" y="4507992"/>
            <a:ext cx="28325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↳ 5 cláusulas suportadas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191658" y="3703320"/>
            <a:ext cx="308853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19674" y="3794760"/>
            <a:ext cx="28325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TRANSFERÊNCIA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319674" y="3995928"/>
            <a:ext cx="28325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Aquisição / Venda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319674" y="4233672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Compra, venda, empréstimo. Gera intangível e cronograma.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319674" y="4507992"/>
            <a:ext cx="28325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↳ multimoeda + PTAX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417357" y="3703320"/>
            <a:ext cx="308853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45373" y="3794760"/>
            <a:ext cx="28325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CLÁUSULA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545373" y="3995928"/>
            <a:ext cx="28325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 de desempenho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8545373" y="4233672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Jogos, gols, títulos → obrigação, reajuste ou receita.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545373" y="4507992"/>
            <a:ext cx="28325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↳ condição + efeito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965960" y="4846320"/>
            <a:ext cx="308853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93976" y="4937760"/>
            <a:ext cx="28325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ADITIVO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093976" y="5138928"/>
            <a:ext cx="28325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Aditivo contratual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2093976" y="5376672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Renegociação, extensão ou reajuste sobre contrato ativo.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2093976" y="5650992"/>
            <a:ext cx="28325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↳ versionado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191658" y="4846320"/>
            <a:ext cx="308853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19674" y="4937760"/>
            <a:ext cx="28325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SELL-ON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5319674" y="5138928"/>
            <a:ext cx="28325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Percentual em venda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5319674" y="5376672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Sobre a mais-valia ou sobre o valor total da futura venda.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5319674" y="5650992"/>
            <a:ext cx="28325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↳ pagar ou receber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8417357" y="4846320"/>
            <a:ext cx="308853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545373" y="4937760"/>
            <a:ext cx="28325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SOLIDARIEDADE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8545373" y="5138928"/>
            <a:ext cx="28325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FIFA — clubes formadores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8545373" y="5376672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Repasse a clubes formadores do atleta.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8545373" y="5650992"/>
            <a:ext cx="28325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↳ capitalizável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1965960" y="6080760"/>
            <a:ext cx="9539935" cy="292608"/>
          </a:xfrm>
          <a:prstGeom prst="rect">
            <a:avLst/>
          </a:prstGeom>
          <a:solidFill>
            <a:srgbClr val="EEEDEA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057400" y="6099048"/>
            <a:ext cx="9357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Passo 1 de 5 · </a:t>
            </a:r>
            <a:pPr indent="0" marL="0">
              <a:buNone/>
            </a:pPr>
            <a:r>
              <a:rPr lang="en-US" sz="10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Após escolher o tipo você vincula atleta e contraparte, define valores, cronograma e anexa o PDF.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457200" y="608076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Escreve · ac_contratos, ac_clausulas, ac_remuneracoes, ac_entidades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6858000" y="608076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Anexa · PDF do contrato em ac_documentos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 · JURÍDICO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274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4008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 · CONTROLADORIA + ASSESSOR VALIDAM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 antes de virar operação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Antes do dado ser consumido para caixa e decisão, Controladoria e Assessor Financeiro conferem o registrado. Nada é reescrito — apenas confirmado ou devolvido ao Jurídico.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905695" y="8229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EEEDEA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2855" y="93268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ROTA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42855" y="1143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/atletas/:id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11277295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9525">
            <a:solidFill>
              <a:srgbClr val="D9D6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14600"/>
            <a:ext cx="1280160" cy="3794760"/>
          </a:xfrm>
          <a:prstGeom prst="rect">
            <a:avLst/>
          </a:prstGeom>
          <a:solidFill>
            <a:srgbClr val="1A1410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6243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280720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Gestão Contratual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85216" y="307238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Criar (Assistente)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85216" y="325526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Dashboards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1280160" cy="164592"/>
          </a:xfrm>
          <a:prstGeom prst="rect">
            <a:avLst/>
          </a:prstGeom>
          <a:solidFill>
            <a:srgbClr val="2A2521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429000"/>
            <a:ext cx="0" cy="164592"/>
          </a:xfrm>
          <a:prstGeom prst="line">
            <a:avLst/>
          </a:prstGeom>
          <a:noFill/>
          <a:ln w="25400">
            <a:solidFill>
              <a:srgbClr val="F3EE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343814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Atletas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85216" y="362102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Portfolio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5216" y="380390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Clubes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5216" y="398678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Agentes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5216" y="425196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6786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RELATÓRIOS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85216" y="446227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Visão por Atleta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85216" y="464515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Consolidado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5216" y="482803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Acordos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5216" y="501091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Vendas Futuras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85216" y="519379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Direitos Econ.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85216" y="537667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Gatilhos e Metas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85216" y="555955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Recuperação Jud.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5216" y="5824728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6786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DADOS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85216" y="6025896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Importar / Exportar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737360" y="2514600"/>
            <a:ext cx="9997135" cy="3794760"/>
          </a:xfrm>
          <a:prstGeom prst="rect">
            <a:avLst/>
          </a:prstGeom>
          <a:solidFill>
            <a:srgbClr val="F3F2EF"/>
          </a:solidFill>
          <a:ln/>
        </p:spPr>
      </p:sp>
      <p:sp>
        <p:nvSpPr>
          <p:cNvPr id="34" name="Text 32"/>
          <p:cNvSpPr/>
          <p:nvPr/>
        </p:nvSpPr>
        <p:spPr>
          <a:xfrm>
            <a:off x="1965960" y="2697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João Silva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11880" y="2770632"/>
            <a:ext cx="1188720" cy="228600"/>
          </a:xfrm>
          <a:prstGeom prst="rect">
            <a:avLst/>
          </a:prstGeom>
          <a:solidFill>
            <a:srgbClr val="E1EAF0"/>
          </a:solidFill>
          <a:ln/>
        </p:spPr>
      </p:sp>
      <p:sp>
        <p:nvSpPr>
          <p:cNvPr id="36" name="Text 34"/>
          <p:cNvSpPr/>
          <p:nvPr/>
        </p:nvSpPr>
        <p:spPr>
          <a:xfrm>
            <a:off x="3611880" y="27706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965960" y="30175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Ficha do atleta · aquisição Barcelona · 11/2024 → 10/2029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951415" y="2715768"/>
            <a:ext cx="1554480" cy="320040"/>
          </a:xfrm>
          <a:prstGeom prst="roundRect">
            <a:avLst>
              <a:gd name="adj" fmla="val 11429"/>
            </a:avLst>
          </a:prstGeom>
          <a:solidFill>
            <a:srgbClr val="100D0A"/>
          </a:solidFill>
          <a:ln w="6350">
            <a:solidFill>
              <a:srgbClr val="100D0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51415" y="2715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Aprovar dados ✓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159191" y="2715768"/>
            <a:ext cx="1737360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BEBAB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59191" y="2715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Devolver ao Jurídico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965960" y="3319272"/>
            <a:ext cx="953993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65960" y="3474720"/>
            <a:ext cx="2302688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93976" y="3566160"/>
            <a:ext cx="204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EXPOSIÇÃO TOTAL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093976" y="3749040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€ 12,0 M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2093976" y="3986784"/>
            <a:ext cx="204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 bate com contrato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78376" y="3474720"/>
            <a:ext cx="2302688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06392" y="3566160"/>
            <a:ext cx="204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PASSIVO FIRME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506392" y="3749040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€ 11,5 M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4506392" y="3986784"/>
            <a:ext cx="204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 4 obrigações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790792" y="3474720"/>
            <a:ext cx="2302688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18808" y="3566160"/>
            <a:ext cx="204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CONTINGENTE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918808" y="3749040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€ 0,5 M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6918808" y="3986784"/>
            <a:ext cx="204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 1 gatilho pendente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203207" y="3474720"/>
            <a:ext cx="2302688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331223" y="3566160"/>
            <a:ext cx="204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OWNERSHIP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9331223" y="3749040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100% BFR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9331223" y="3986784"/>
            <a:ext cx="204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 soma 100%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965960" y="4343400"/>
            <a:ext cx="95399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CONCILIAÇÃO · CONTRATO × SISTEMA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965960" y="4599432"/>
            <a:ext cx="9539935" cy="274320"/>
          </a:xfrm>
          <a:prstGeom prst="rect">
            <a:avLst/>
          </a:prstGeom>
          <a:solidFill>
            <a:srgbClr val="EEEDEA"/>
          </a:solidFill>
          <a:ln/>
        </p:spPr>
      </p:sp>
      <p:sp>
        <p:nvSpPr>
          <p:cNvPr id="61" name="Text 59"/>
          <p:cNvSpPr/>
          <p:nvPr/>
        </p:nvSpPr>
        <p:spPr>
          <a:xfrm>
            <a:off x="2039112" y="4626864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ITEM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142232" y="462686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CONTRAPARTE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879592" y="4626864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7159752" y="4626864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SISTEMA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439912" y="46268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CRONOGRAMA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10268712" y="4626864"/>
            <a:ext cx="11640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2039112" y="4901184"/>
            <a:ext cx="19568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Transferência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142232" y="4901184"/>
            <a:ext cx="15910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FC Barcelona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879592" y="4901184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€ 10,0 M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7159752" y="4901184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€ 10,0 M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8439912" y="4901184"/>
            <a:ext cx="16824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5× € 2,0 M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10393528" y="4901184"/>
            <a:ext cx="914400" cy="164592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73" name="Text 71"/>
          <p:cNvSpPr/>
          <p:nvPr/>
        </p:nvSpPr>
        <p:spPr>
          <a:xfrm>
            <a:off x="10393528" y="49103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965960" y="5093208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0" y="5093208"/>
            <a:ext cx="9539935" cy="219456"/>
          </a:xfrm>
          <a:prstGeom prst="rect">
            <a:avLst/>
          </a:prstGeom>
          <a:solidFill>
            <a:srgbClr val="FAF9F7"/>
          </a:solidFill>
          <a:ln/>
        </p:spPr>
      </p:sp>
      <p:sp>
        <p:nvSpPr>
          <p:cNvPr id="76" name="Text 74"/>
          <p:cNvSpPr/>
          <p:nvPr/>
        </p:nvSpPr>
        <p:spPr>
          <a:xfrm>
            <a:off x="2039112" y="5120640"/>
            <a:ext cx="19568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Comissão agente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4142232" y="5120640"/>
            <a:ext cx="15910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Agente XYZ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879592" y="5120640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€ 1,0 M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7159752" y="5120640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€ 1,0 M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8439912" y="5120640"/>
            <a:ext cx="16824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10× € 100k bim.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10393528" y="5120640"/>
            <a:ext cx="914400" cy="164592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82" name="Text 80"/>
          <p:cNvSpPr/>
          <p:nvPr/>
        </p:nvSpPr>
        <p:spPr>
          <a:xfrm>
            <a:off x="10393528" y="512978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1965960" y="5312664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039112" y="5340096"/>
            <a:ext cx="19568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Solidariedade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4142232" y="5340096"/>
            <a:ext cx="15910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 clubes formadores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5879592" y="5340096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€ 0,5 M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7159752" y="5340096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€ 0,5 M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8439912" y="5340096"/>
            <a:ext cx="16824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à vista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10393528" y="5340096"/>
            <a:ext cx="914400" cy="164592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90" name="Text 88"/>
          <p:cNvSpPr/>
          <p:nvPr/>
        </p:nvSpPr>
        <p:spPr>
          <a:xfrm>
            <a:off x="10393528" y="53492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965960" y="5532120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5960" y="5532120"/>
            <a:ext cx="9539935" cy="219456"/>
          </a:xfrm>
          <a:prstGeom prst="rect">
            <a:avLst/>
          </a:prstGeom>
          <a:solidFill>
            <a:srgbClr val="FAF9F7"/>
          </a:solidFill>
          <a:ln/>
        </p:spPr>
      </p:sp>
      <p:sp>
        <p:nvSpPr>
          <p:cNvPr id="93" name="Text 91"/>
          <p:cNvSpPr/>
          <p:nvPr/>
        </p:nvSpPr>
        <p:spPr>
          <a:xfrm>
            <a:off x="2039112" y="5559552"/>
            <a:ext cx="19568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Salário CLT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4142232" y="5559552"/>
            <a:ext cx="15910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5879592" y="5559552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7159752" y="5559552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8439912" y="5559552"/>
            <a:ext cx="16824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mensal · 60m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10393528" y="5559552"/>
            <a:ext cx="914400" cy="164592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99" name="Text 97"/>
          <p:cNvSpPr/>
          <p:nvPr/>
        </p:nvSpPr>
        <p:spPr>
          <a:xfrm>
            <a:off x="10393528" y="55686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965960" y="5751576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039112" y="5779008"/>
            <a:ext cx="19568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Direito de imagem</a:t>
            </a:r>
            <a:endParaRPr lang="en-US" sz="900" dirty="0"/>
          </a:p>
        </p:txBody>
      </p:sp>
      <p:sp>
        <p:nvSpPr>
          <p:cNvPr id="102" name="Text 100"/>
          <p:cNvSpPr/>
          <p:nvPr/>
        </p:nvSpPr>
        <p:spPr>
          <a:xfrm>
            <a:off x="4142232" y="5779008"/>
            <a:ext cx="15910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PJ Silva Imagem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5879592" y="5779008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7159752" y="5779008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8439912" y="5779008"/>
            <a:ext cx="16824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mensal · 60m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10393528" y="5779008"/>
            <a:ext cx="914400" cy="164592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107" name="Text 105"/>
          <p:cNvSpPr/>
          <p:nvPr/>
        </p:nvSpPr>
        <p:spPr>
          <a:xfrm>
            <a:off x="10393528" y="578815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Confere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1965960" y="5971032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965960" y="5971032"/>
            <a:ext cx="9539935" cy="219456"/>
          </a:xfrm>
          <a:prstGeom prst="rect">
            <a:avLst/>
          </a:prstGeom>
          <a:solidFill>
            <a:srgbClr val="FAF9F7"/>
          </a:solidFill>
          <a:ln/>
        </p:spPr>
      </p:sp>
      <p:sp>
        <p:nvSpPr>
          <p:cNvPr id="110" name="Text 108"/>
          <p:cNvSpPr/>
          <p:nvPr/>
        </p:nvSpPr>
        <p:spPr>
          <a:xfrm>
            <a:off x="2039112" y="5998464"/>
            <a:ext cx="19568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 10 jogos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4142232" y="5998464"/>
            <a:ext cx="15910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FC Barcelona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5879592" y="5998464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€ 500 k</a:t>
            </a:r>
            <a:endParaRPr lang="en-US" sz="900" dirty="0"/>
          </a:p>
        </p:txBody>
      </p:sp>
      <p:sp>
        <p:nvSpPr>
          <p:cNvPr id="113" name="Text 111"/>
          <p:cNvSpPr/>
          <p:nvPr/>
        </p:nvSpPr>
        <p:spPr>
          <a:xfrm>
            <a:off x="7159752" y="5998464"/>
            <a:ext cx="11338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€ 500 k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8439912" y="5998464"/>
            <a:ext cx="16824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após apuração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10393528" y="5998464"/>
            <a:ext cx="914400" cy="164592"/>
          </a:xfrm>
          <a:prstGeom prst="rect">
            <a:avLst/>
          </a:prstGeom>
          <a:solidFill>
            <a:srgbClr val="F3EDD9"/>
          </a:solidFill>
          <a:ln/>
        </p:spPr>
      </p:sp>
      <p:sp>
        <p:nvSpPr>
          <p:cNvPr id="116" name="Text 114"/>
          <p:cNvSpPr/>
          <p:nvPr/>
        </p:nvSpPr>
        <p:spPr>
          <a:xfrm>
            <a:off x="10393528" y="600760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Contingente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1965960" y="6190488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57200" y="60807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Verifica · valor, moeda, contraparte, cronograma, ownership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5943600" y="6080760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Devolve ao Jurídico se divergir · Aprova para liberar consumo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122" name="Text 120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 · SANITY CHECK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274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4008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 · Consumo contínuo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Quatro áreas, quatro propósitos, mesma base de dados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2682164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65960"/>
            <a:ext cx="2682164" cy="73152"/>
          </a:xfrm>
          <a:prstGeom prst="rect">
            <a:avLst/>
          </a:prstGeom>
          <a:solidFill>
            <a:srgbClr val="2F6B3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194560"/>
            <a:ext cx="2224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TESOURARIA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Caixa e realização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85800" y="2898648"/>
            <a:ext cx="457200" cy="0"/>
          </a:xfrm>
          <a:prstGeom prst="line">
            <a:avLst/>
          </a:prstGeom>
          <a:noFill/>
          <a:ln w="12700">
            <a:solidFill>
              <a:srgbClr val="2F6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017520"/>
            <a:ext cx="22249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 a informação a nível de caixa. Cuida das parcelas — pagas, baixas e overdue.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51960"/>
            <a:ext cx="2224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Projeção de fluxo de caixa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Validação de câmbio e PTAX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Parcelas pagas e baixas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Overdue e alertas de atraso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Correção monetária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22244" y="1965960"/>
            <a:ext cx="2682164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22244" y="1965960"/>
            <a:ext cx="2682164" cy="73152"/>
          </a:xfrm>
          <a:prstGeom prst="rect">
            <a:avLst/>
          </a:prstGeom>
          <a:solidFill>
            <a:srgbClr val="1F5673"/>
          </a:solidFill>
          <a:ln/>
        </p:spPr>
      </p:sp>
      <p:sp>
        <p:nvSpPr>
          <p:cNvPr id="16" name="Text 14"/>
          <p:cNvSpPr/>
          <p:nvPr/>
        </p:nvSpPr>
        <p:spPr>
          <a:xfrm>
            <a:off x="3550844" y="2194560"/>
            <a:ext cx="2224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50844" y="246888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Forecast e realizado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550844" y="2898648"/>
            <a:ext cx="457200" cy="0"/>
          </a:xfrm>
          <a:prstGeom prst="line">
            <a:avLst/>
          </a:prstGeom>
          <a:noFill/>
          <a:ln w="12700">
            <a:solidFill>
              <a:srgbClr val="1F56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50844" y="3017520"/>
            <a:ext cx="22249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Usa a informação para projetar resultado e analisar o realizado da companhia.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550844" y="4251960"/>
            <a:ext cx="2224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Forecasts financeiros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Orçamentos futuros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Análise do resultado realizado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Orçado × realizado por rubrica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DRE gerencial por atleta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87288" y="1965960"/>
            <a:ext cx="2682164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7288" y="1965960"/>
            <a:ext cx="2682164" cy="73152"/>
          </a:xfrm>
          <a:prstGeom prst="rect">
            <a:avLst/>
          </a:prstGeom>
          <a:solidFill>
            <a:srgbClr val="8F6A2A"/>
          </a:solidFill>
          <a:ln/>
        </p:spPr>
      </p:sp>
      <p:sp>
        <p:nvSpPr>
          <p:cNvPr id="23" name="Text 21"/>
          <p:cNvSpPr/>
          <p:nvPr/>
        </p:nvSpPr>
        <p:spPr>
          <a:xfrm>
            <a:off x="6415888" y="2194560"/>
            <a:ext cx="2224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15888" y="246888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Risco contratual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415888" y="2898648"/>
            <a:ext cx="457200" cy="0"/>
          </a:xfrm>
          <a:prstGeom prst="line">
            <a:avLst/>
          </a:prstGeom>
          <a:noFill/>
          <a:ln w="12700">
            <a:solidFill>
              <a:srgbClr val="8F6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15888" y="3017520"/>
            <a:ext cx="22249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Checa gatilhos próximos e faz análise de risco sobre as obrigações.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15888" y="4251960"/>
            <a:ext cx="2224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Gatilhos que se aproximam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Vencimentos com risco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Obrigações mais críticas de atrasar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Cláusulas de default (atraso × dias)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Passivo contingente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052331" y="1965960"/>
            <a:ext cx="2682164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331" y="1965960"/>
            <a:ext cx="2682164" cy="73152"/>
          </a:xfrm>
          <a:prstGeom prst="rect">
            <a:avLst/>
          </a:prstGeom>
          <a:solidFill>
            <a:srgbClr val="8A6516"/>
          </a:solidFill>
          <a:ln/>
        </p:spPr>
      </p:sp>
      <p:sp>
        <p:nvSpPr>
          <p:cNvPr id="30" name="Text 28"/>
          <p:cNvSpPr/>
          <p:nvPr/>
        </p:nvSpPr>
        <p:spPr>
          <a:xfrm>
            <a:off x="9280931" y="2194560"/>
            <a:ext cx="22249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280931" y="246888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Decisão executiva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280931" y="2898648"/>
            <a:ext cx="457200" cy="0"/>
          </a:xfrm>
          <a:prstGeom prst="line">
            <a:avLst/>
          </a:prstGeom>
          <a:noFill/>
          <a:ln w="12700">
            <a:solidFill>
              <a:srgbClr val="8A651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0931" y="3017520"/>
            <a:ext cx="22249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Cria relatórios macro e submete para tomada de decisão do CEO e executivos.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280931" y="4251960"/>
            <a:ext cx="2224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Relatórios executivos consolidados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Cenários e simulações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Sell-on e mais-valia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Exposição consolidada por moeda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Apoio ao CEO e à diretoria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 · CONSUMO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274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4008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 · TESOURARIA EM AÇÃO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Consolidado — validação de caixa, câmbio e overdue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Tesouraria opera o Consolidado como sua tela de trabalho. É a única área que escreve durante o consumo; as demais leem os mesmos dados com seus propósitos.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905695" y="8229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EEEDEA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42855" y="93268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ROTA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42855" y="1143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/consolidado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11277295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9525">
            <a:solidFill>
              <a:srgbClr val="D9D6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14600"/>
            <a:ext cx="1280160" cy="3794760"/>
          </a:xfrm>
          <a:prstGeom prst="rect">
            <a:avLst/>
          </a:prstGeom>
          <a:solidFill>
            <a:srgbClr val="1A1410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6243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280720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Gestão Contratual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85216" y="307238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Criar (Assistente)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85216" y="325526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Dashboards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85216" y="343814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Atletas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85216" y="362102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Portfolio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85216" y="380390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Clubes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85216" y="3986784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Agentes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5216" y="425196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6786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85216" y="446227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Visão por Atleta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636008"/>
            <a:ext cx="1280160" cy="164592"/>
          </a:xfrm>
          <a:prstGeom prst="rect">
            <a:avLst/>
          </a:prstGeom>
          <a:solidFill>
            <a:srgbClr val="2A2521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636008"/>
            <a:ext cx="0" cy="164592"/>
          </a:xfrm>
          <a:prstGeom prst="line">
            <a:avLst/>
          </a:prstGeom>
          <a:noFill/>
          <a:ln w="25400">
            <a:solidFill>
              <a:srgbClr val="F3EE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5216" y="464515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Consolidado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5216" y="482803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Acordos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5216" y="501091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Vendas Futuras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85216" y="519379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Direitos Econ.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85216" y="537667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Gatilhos e Metas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85216" y="5559552"/>
            <a:ext cx="1133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Recuperação Jud.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5216" y="5824728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6786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DADOS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85216" y="6025896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9C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Importar / Exportar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737360" y="2514600"/>
            <a:ext cx="9997135" cy="3794760"/>
          </a:xfrm>
          <a:prstGeom prst="rect">
            <a:avLst/>
          </a:prstGeom>
          <a:solidFill>
            <a:srgbClr val="F3F2EF"/>
          </a:solidFill>
          <a:ln/>
        </p:spPr>
      </p:sp>
      <p:sp>
        <p:nvSpPr>
          <p:cNvPr id="34" name="Text 32"/>
          <p:cNvSpPr/>
          <p:nvPr/>
        </p:nvSpPr>
        <p:spPr>
          <a:xfrm>
            <a:off x="1965960" y="2697480"/>
            <a:ext cx="6796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Consolidado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965960" y="2990088"/>
            <a:ext cx="6796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Todas as movimentações financeiras · Botafogo SAF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494215" y="2715768"/>
            <a:ext cx="2011680" cy="320040"/>
          </a:xfrm>
          <a:prstGeom prst="roundRect">
            <a:avLst>
              <a:gd name="adj" fmla="val 11429"/>
            </a:avLst>
          </a:prstGeom>
          <a:solidFill>
            <a:srgbClr val="100D0A"/>
          </a:solidFill>
          <a:ln w="6350">
            <a:solidFill>
              <a:srgbClr val="100D0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94215" y="27157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Baixar selecionadas (3)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067751" y="2715768"/>
            <a:ext cx="1371600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BEBA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67751" y="27157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Exportar XLSX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965960" y="3319272"/>
            <a:ext cx="953993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65960" y="3447288"/>
            <a:ext cx="228600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11680" y="3483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⌕  buscar por atleta, contraparte…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43400" y="3447288"/>
            <a:ext cx="15087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43400" y="34747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Natureza: Todas  ▾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3447288"/>
            <a:ext cx="15087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34747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Moeda: Todas  ▾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543800" y="3447288"/>
            <a:ext cx="15087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43800" y="34747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Período: Próx. 60d  ▾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447288"/>
            <a:ext cx="15087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34747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Status: Não pagas  ▾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965960" y="3858768"/>
            <a:ext cx="1834835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57400" y="3913632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PAGAR · 30D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2057400" y="4059936"/>
            <a:ext cx="1651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R$ 18,4 M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2057400" y="4261104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42 parcelas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892235" y="3858768"/>
            <a:ext cx="1834835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83675" y="3913632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VENCIDAS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3983675" y="4059936"/>
            <a:ext cx="1651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52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R$ 1,24 M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3983675" y="4261104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 · overdue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818510" y="3858768"/>
            <a:ext cx="1834835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09950" y="3913632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VENCE EM 7D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5909950" y="4059936"/>
            <a:ext cx="1651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R$ 4,8 M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909950" y="4261104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 parcelas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744785" y="3858768"/>
            <a:ext cx="1834835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6225" y="3913632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PAGAS NO MÊS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7836225" y="4059936"/>
            <a:ext cx="1651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R$ 22,1 M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7836225" y="4261104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51 parcelas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671060" y="3858768"/>
            <a:ext cx="1834835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62500" y="3913632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PTAX EUR HOJE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9762500" y="4059936"/>
            <a:ext cx="1651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6,20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9762500" y="4261104"/>
            <a:ext cx="165195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BCB · D-1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1965960" y="4535424"/>
            <a:ext cx="95399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PARCELAS · PRÓXIMOS VENCIMENTOS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1965960" y="4754880"/>
            <a:ext cx="9539935" cy="237744"/>
          </a:xfrm>
          <a:prstGeom prst="rect">
            <a:avLst/>
          </a:prstGeom>
          <a:solidFill>
            <a:srgbClr val="EEEDEA"/>
          </a:solidFill>
          <a:ln/>
        </p:spPr>
      </p:sp>
      <p:sp>
        <p:nvSpPr>
          <p:cNvPr id="73" name="Text 71"/>
          <p:cNvSpPr/>
          <p:nvPr/>
        </p:nvSpPr>
        <p:spPr>
          <a:xfrm>
            <a:off x="2020824" y="477316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☑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2276856" y="4773168"/>
            <a:ext cx="94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VENCIMENTO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3328416" y="4773168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ATLETA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4791456" y="4773168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NATUREZA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6254496" y="4773168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CONTRAPARTE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8083296" y="4773168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VALOR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9317736" y="4773168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BRL (PTAX)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10552176" y="4773168"/>
            <a:ext cx="898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STATUS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2020824" y="501091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☐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2276856" y="5010912"/>
            <a:ext cx="9418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25/08/2026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3328416" y="501091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João Silva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4791456" y="501091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Solidariedade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254496" y="5010912"/>
            <a:ext cx="1719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Clubes formadores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8083296" y="501091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€ 200.000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9317736" y="501091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1.240.000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10590124" y="5010912"/>
            <a:ext cx="822960" cy="146304"/>
          </a:xfrm>
          <a:prstGeom prst="rect">
            <a:avLst/>
          </a:prstGeom>
          <a:solidFill>
            <a:srgbClr val="F3E6E2"/>
          </a:solidFill>
          <a:ln/>
        </p:spPr>
      </p:sp>
      <p:sp>
        <p:nvSpPr>
          <p:cNvPr id="89" name="Text 87"/>
          <p:cNvSpPr/>
          <p:nvPr/>
        </p:nvSpPr>
        <p:spPr>
          <a:xfrm>
            <a:off x="10590124" y="501091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352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Vencida 12d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965960" y="5175504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965960" y="5175504"/>
            <a:ext cx="9539935" cy="182880"/>
          </a:xfrm>
          <a:prstGeom prst="rect">
            <a:avLst/>
          </a:prstGeom>
          <a:solidFill>
            <a:srgbClr val="FAF9F7"/>
          </a:solidFill>
          <a:ln/>
        </p:spPr>
      </p:sp>
      <p:sp>
        <p:nvSpPr>
          <p:cNvPr id="92" name="Text 90"/>
          <p:cNvSpPr/>
          <p:nvPr/>
        </p:nvSpPr>
        <p:spPr>
          <a:xfrm>
            <a:off x="2020824" y="519379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☐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2276856" y="5193792"/>
            <a:ext cx="9418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28/08/2026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3328416" y="519379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Marcos Costa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4791456" y="519379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Comissão agente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254496" y="5193792"/>
            <a:ext cx="1719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Elite Sport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8083296" y="519379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R$ 45.000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9317736" y="519379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45.000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10590124" y="5193792"/>
            <a:ext cx="822960" cy="146304"/>
          </a:xfrm>
          <a:prstGeom prst="rect">
            <a:avLst/>
          </a:prstGeom>
          <a:solidFill>
            <a:srgbClr val="F3E6E2"/>
          </a:solidFill>
          <a:ln/>
        </p:spPr>
      </p:sp>
      <p:sp>
        <p:nvSpPr>
          <p:cNvPr id="100" name="Text 98"/>
          <p:cNvSpPr/>
          <p:nvPr/>
        </p:nvSpPr>
        <p:spPr>
          <a:xfrm>
            <a:off x="10590124" y="519379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352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Vencida 9d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1965960" y="5358384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020824" y="537667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☑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2276856" y="5376672"/>
            <a:ext cx="9418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05/09/2026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328416" y="537667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João Silva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4791456" y="537667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Salário CLT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6254496" y="5376672"/>
            <a:ext cx="1719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8083296" y="537667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9317736" y="537667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600.000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10590124" y="5376672"/>
            <a:ext cx="822960" cy="146304"/>
          </a:xfrm>
          <a:prstGeom prst="rect">
            <a:avLst/>
          </a:prstGeom>
          <a:solidFill>
            <a:srgbClr val="F3EDD9"/>
          </a:solidFill>
          <a:ln/>
        </p:spPr>
      </p:sp>
      <p:sp>
        <p:nvSpPr>
          <p:cNvPr id="110" name="Text 108"/>
          <p:cNvSpPr/>
          <p:nvPr/>
        </p:nvSpPr>
        <p:spPr>
          <a:xfrm>
            <a:off x="10590124" y="537667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Vence 5d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1965960" y="5541264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965960" y="5541264"/>
            <a:ext cx="9539935" cy="182880"/>
          </a:xfrm>
          <a:prstGeom prst="rect">
            <a:avLst/>
          </a:prstGeom>
          <a:solidFill>
            <a:srgbClr val="FAF9F7"/>
          </a:solidFill>
          <a:ln/>
        </p:spPr>
      </p:sp>
      <p:sp>
        <p:nvSpPr>
          <p:cNvPr id="113" name="Text 111"/>
          <p:cNvSpPr/>
          <p:nvPr/>
        </p:nvSpPr>
        <p:spPr>
          <a:xfrm>
            <a:off x="2020824" y="555955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☑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2276856" y="5559552"/>
            <a:ext cx="9418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08/09/2026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3328416" y="555955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Rafael Almeida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4791456" y="555955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Imagem [RJ]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6254496" y="5559552"/>
            <a:ext cx="1719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PJ Almeida Imagem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8083296" y="555955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R$ 380.000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9317736" y="555955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380.000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10590124" y="5559552"/>
            <a:ext cx="822960" cy="146304"/>
          </a:xfrm>
          <a:prstGeom prst="rect">
            <a:avLst/>
          </a:prstGeom>
          <a:solidFill>
            <a:srgbClr val="F3EDD9"/>
          </a:solidFill>
          <a:ln/>
        </p:spPr>
      </p:sp>
      <p:sp>
        <p:nvSpPr>
          <p:cNvPr id="121" name="Text 119"/>
          <p:cNvSpPr/>
          <p:nvPr/>
        </p:nvSpPr>
        <p:spPr>
          <a:xfrm>
            <a:off x="10590124" y="55595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Vence 8d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1965960" y="5724144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2020824" y="574243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☑</a:t>
            </a:r>
            <a:endParaRPr lang="en-US" sz="850" dirty="0"/>
          </a:p>
        </p:txBody>
      </p:sp>
      <p:sp>
        <p:nvSpPr>
          <p:cNvPr id="124" name="Text 122"/>
          <p:cNvSpPr/>
          <p:nvPr/>
        </p:nvSpPr>
        <p:spPr>
          <a:xfrm>
            <a:off x="2276856" y="5742432"/>
            <a:ext cx="9418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10/09/2026</a:t>
            </a:r>
            <a:endParaRPr lang="en-US" sz="850" dirty="0"/>
          </a:p>
        </p:txBody>
      </p:sp>
      <p:sp>
        <p:nvSpPr>
          <p:cNvPr id="125" name="Text 123"/>
          <p:cNvSpPr/>
          <p:nvPr/>
        </p:nvSpPr>
        <p:spPr>
          <a:xfrm>
            <a:off x="3328416" y="574243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João Silva</a:t>
            </a:r>
            <a:endParaRPr lang="en-US" sz="850" dirty="0"/>
          </a:p>
        </p:txBody>
      </p:sp>
      <p:sp>
        <p:nvSpPr>
          <p:cNvPr id="126" name="Text 124"/>
          <p:cNvSpPr/>
          <p:nvPr/>
        </p:nvSpPr>
        <p:spPr>
          <a:xfrm>
            <a:off x="4791456" y="574243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Imagem</a:t>
            </a:r>
            <a:endParaRPr lang="en-US" sz="850" dirty="0"/>
          </a:p>
        </p:txBody>
      </p:sp>
      <p:sp>
        <p:nvSpPr>
          <p:cNvPr id="127" name="Text 125"/>
          <p:cNvSpPr/>
          <p:nvPr/>
        </p:nvSpPr>
        <p:spPr>
          <a:xfrm>
            <a:off x="6254496" y="5742432"/>
            <a:ext cx="1719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PJ Silva Imagem</a:t>
            </a:r>
            <a:endParaRPr lang="en-US" sz="850" dirty="0"/>
          </a:p>
        </p:txBody>
      </p:sp>
      <p:sp>
        <p:nvSpPr>
          <p:cNvPr id="128" name="Text 126"/>
          <p:cNvSpPr/>
          <p:nvPr/>
        </p:nvSpPr>
        <p:spPr>
          <a:xfrm>
            <a:off x="8083296" y="574243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9317736" y="574243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600.000</a:t>
            </a:r>
            <a:endParaRPr lang="en-US" sz="850" dirty="0"/>
          </a:p>
        </p:txBody>
      </p:sp>
      <p:sp>
        <p:nvSpPr>
          <p:cNvPr id="130" name="Shape 128"/>
          <p:cNvSpPr/>
          <p:nvPr/>
        </p:nvSpPr>
        <p:spPr>
          <a:xfrm>
            <a:off x="10590124" y="5742432"/>
            <a:ext cx="822960" cy="146304"/>
          </a:xfrm>
          <a:prstGeom prst="rect">
            <a:avLst/>
          </a:prstGeom>
          <a:solidFill>
            <a:srgbClr val="F3EDD9"/>
          </a:solidFill>
          <a:ln/>
        </p:spPr>
      </p:sp>
      <p:sp>
        <p:nvSpPr>
          <p:cNvPr id="131" name="Text 129"/>
          <p:cNvSpPr/>
          <p:nvPr/>
        </p:nvSpPr>
        <p:spPr>
          <a:xfrm>
            <a:off x="10590124" y="574243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651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Vence 10d</a:t>
            </a:r>
            <a:endParaRPr lang="en-US" sz="750" dirty="0"/>
          </a:p>
        </p:txBody>
      </p:sp>
      <p:sp>
        <p:nvSpPr>
          <p:cNvPr id="132" name="Shape 130"/>
          <p:cNvSpPr/>
          <p:nvPr/>
        </p:nvSpPr>
        <p:spPr>
          <a:xfrm>
            <a:off x="1965960" y="5907024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965960" y="5907024"/>
            <a:ext cx="9539935" cy="182880"/>
          </a:xfrm>
          <a:prstGeom prst="rect">
            <a:avLst/>
          </a:prstGeom>
          <a:solidFill>
            <a:srgbClr val="FAF9F7"/>
          </a:solidFill>
          <a:ln/>
        </p:spPr>
      </p:sp>
      <p:sp>
        <p:nvSpPr>
          <p:cNvPr id="134" name="Text 132"/>
          <p:cNvSpPr/>
          <p:nvPr/>
        </p:nvSpPr>
        <p:spPr>
          <a:xfrm>
            <a:off x="2020824" y="592531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☐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2276856" y="5925312"/>
            <a:ext cx="9418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01/10/2026</a:t>
            </a:r>
            <a:endParaRPr lang="en-US" sz="850" dirty="0"/>
          </a:p>
        </p:txBody>
      </p:sp>
      <p:sp>
        <p:nvSpPr>
          <p:cNvPr id="136" name="Text 134"/>
          <p:cNvSpPr/>
          <p:nvPr/>
        </p:nvSpPr>
        <p:spPr>
          <a:xfrm>
            <a:off x="3328416" y="592531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João Silva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4791456" y="592531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Transferência</a:t>
            </a:r>
            <a:endParaRPr lang="en-US" sz="850" dirty="0"/>
          </a:p>
        </p:txBody>
      </p:sp>
      <p:sp>
        <p:nvSpPr>
          <p:cNvPr id="138" name="Text 136"/>
          <p:cNvSpPr/>
          <p:nvPr/>
        </p:nvSpPr>
        <p:spPr>
          <a:xfrm>
            <a:off x="6254496" y="5925312"/>
            <a:ext cx="1719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FC Barcelona</a:t>
            </a:r>
            <a:endParaRPr lang="en-US" sz="850" dirty="0"/>
          </a:p>
        </p:txBody>
      </p:sp>
      <p:sp>
        <p:nvSpPr>
          <p:cNvPr id="139" name="Text 137"/>
          <p:cNvSpPr/>
          <p:nvPr/>
        </p:nvSpPr>
        <p:spPr>
          <a:xfrm>
            <a:off x="8083296" y="592531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€ 2.000.000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9317736" y="592531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12.400.000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10590124" y="5925312"/>
            <a:ext cx="822960" cy="146304"/>
          </a:xfrm>
          <a:prstGeom prst="rect">
            <a:avLst/>
          </a:prstGeom>
          <a:solidFill>
            <a:srgbClr val="E1EAF0"/>
          </a:solidFill>
          <a:ln/>
        </p:spPr>
      </p:sp>
      <p:sp>
        <p:nvSpPr>
          <p:cNvPr id="142" name="Text 140"/>
          <p:cNvSpPr/>
          <p:nvPr/>
        </p:nvSpPr>
        <p:spPr>
          <a:xfrm>
            <a:off x="10590124" y="592531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Pendente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1965960" y="6089904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020824" y="610819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☐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2276856" y="6108192"/>
            <a:ext cx="9418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15/10/2026</a:t>
            </a:r>
            <a:endParaRPr lang="en-US" sz="850" dirty="0"/>
          </a:p>
        </p:txBody>
      </p:sp>
      <p:sp>
        <p:nvSpPr>
          <p:cNvPr id="146" name="Text 144"/>
          <p:cNvSpPr/>
          <p:nvPr/>
        </p:nvSpPr>
        <p:spPr>
          <a:xfrm>
            <a:off x="3328416" y="610819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João Silva</a:t>
            </a:r>
            <a:endParaRPr lang="en-US" sz="850" dirty="0"/>
          </a:p>
        </p:txBody>
      </p:sp>
      <p:sp>
        <p:nvSpPr>
          <p:cNvPr id="147" name="Text 145"/>
          <p:cNvSpPr/>
          <p:nvPr/>
        </p:nvSpPr>
        <p:spPr>
          <a:xfrm>
            <a:off x="4791456" y="610819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Comissão agente</a:t>
            </a:r>
            <a:endParaRPr lang="en-US" sz="850" dirty="0"/>
          </a:p>
        </p:txBody>
      </p:sp>
      <p:sp>
        <p:nvSpPr>
          <p:cNvPr id="148" name="Text 146"/>
          <p:cNvSpPr/>
          <p:nvPr/>
        </p:nvSpPr>
        <p:spPr>
          <a:xfrm>
            <a:off x="6254496" y="6108192"/>
            <a:ext cx="1719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Agente XYZ</a:t>
            </a:r>
            <a:endParaRPr lang="en-US" sz="850" dirty="0"/>
          </a:p>
        </p:txBody>
      </p:sp>
      <p:sp>
        <p:nvSpPr>
          <p:cNvPr id="149" name="Text 147"/>
          <p:cNvSpPr/>
          <p:nvPr/>
        </p:nvSpPr>
        <p:spPr>
          <a:xfrm>
            <a:off x="8083296" y="610819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€ 100.000</a:t>
            </a:r>
            <a:endParaRPr lang="en-US" sz="850" dirty="0"/>
          </a:p>
        </p:txBody>
      </p:sp>
      <p:sp>
        <p:nvSpPr>
          <p:cNvPr id="150" name="Text 148"/>
          <p:cNvSpPr/>
          <p:nvPr/>
        </p:nvSpPr>
        <p:spPr>
          <a:xfrm>
            <a:off x="9317736" y="610819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620.000</a:t>
            </a:r>
            <a:endParaRPr lang="en-US" sz="850" dirty="0"/>
          </a:p>
        </p:txBody>
      </p:sp>
      <p:sp>
        <p:nvSpPr>
          <p:cNvPr id="151" name="Shape 149"/>
          <p:cNvSpPr/>
          <p:nvPr/>
        </p:nvSpPr>
        <p:spPr>
          <a:xfrm>
            <a:off x="10590124" y="6108192"/>
            <a:ext cx="822960" cy="146304"/>
          </a:xfrm>
          <a:prstGeom prst="rect">
            <a:avLst/>
          </a:prstGeom>
          <a:solidFill>
            <a:srgbClr val="E1EAF0"/>
          </a:solidFill>
          <a:ln/>
        </p:spPr>
      </p:sp>
      <p:sp>
        <p:nvSpPr>
          <p:cNvPr id="152" name="Text 150"/>
          <p:cNvSpPr/>
          <p:nvPr/>
        </p:nvSpPr>
        <p:spPr>
          <a:xfrm>
            <a:off x="10590124" y="610819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Pendente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1965960" y="6272784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965960" y="6272784"/>
            <a:ext cx="9539935" cy="182880"/>
          </a:xfrm>
          <a:prstGeom prst="rect">
            <a:avLst/>
          </a:prstGeom>
          <a:solidFill>
            <a:srgbClr val="FAF9F7"/>
          </a:solidFill>
          <a:ln/>
        </p:spPr>
      </p:sp>
      <p:sp>
        <p:nvSpPr>
          <p:cNvPr id="155" name="Text 153"/>
          <p:cNvSpPr/>
          <p:nvPr/>
        </p:nvSpPr>
        <p:spPr>
          <a:xfrm>
            <a:off x="2020824" y="6291072"/>
            <a:ext cx="146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☐</a:t>
            </a:r>
            <a:endParaRPr lang="en-US" sz="850" dirty="0"/>
          </a:p>
        </p:txBody>
      </p:sp>
      <p:sp>
        <p:nvSpPr>
          <p:cNvPr id="156" name="Text 154"/>
          <p:cNvSpPr/>
          <p:nvPr/>
        </p:nvSpPr>
        <p:spPr>
          <a:xfrm>
            <a:off x="2276856" y="6291072"/>
            <a:ext cx="9418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31/07/2026</a:t>
            </a:r>
            <a:endParaRPr lang="en-US" sz="850" dirty="0"/>
          </a:p>
        </p:txBody>
      </p:sp>
      <p:sp>
        <p:nvSpPr>
          <p:cNvPr id="157" name="Text 155"/>
          <p:cNvSpPr/>
          <p:nvPr/>
        </p:nvSpPr>
        <p:spPr>
          <a:xfrm>
            <a:off x="3328416" y="629107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João Silva</a:t>
            </a:r>
            <a:endParaRPr lang="en-US" sz="850" dirty="0"/>
          </a:p>
        </p:txBody>
      </p:sp>
      <p:sp>
        <p:nvSpPr>
          <p:cNvPr id="158" name="Text 156"/>
          <p:cNvSpPr/>
          <p:nvPr/>
        </p:nvSpPr>
        <p:spPr>
          <a:xfrm>
            <a:off x="4791456" y="6291072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Salário CLT</a:t>
            </a:r>
            <a:endParaRPr lang="en-US" sz="850" dirty="0"/>
          </a:p>
        </p:txBody>
      </p:sp>
      <p:sp>
        <p:nvSpPr>
          <p:cNvPr id="159" name="Text 157"/>
          <p:cNvSpPr/>
          <p:nvPr/>
        </p:nvSpPr>
        <p:spPr>
          <a:xfrm>
            <a:off x="6254496" y="6291072"/>
            <a:ext cx="17190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</a:t>
            </a:r>
            <a:endParaRPr lang="en-US" sz="850" dirty="0"/>
          </a:p>
        </p:txBody>
      </p:sp>
      <p:sp>
        <p:nvSpPr>
          <p:cNvPr id="160" name="Text 158"/>
          <p:cNvSpPr/>
          <p:nvPr/>
        </p:nvSpPr>
        <p:spPr>
          <a:xfrm>
            <a:off x="8083296" y="629107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R$ 600.000</a:t>
            </a:r>
            <a:endParaRPr lang="en-US" sz="850" dirty="0"/>
          </a:p>
        </p:txBody>
      </p:sp>
      <p:sp>
        <p:nvSpPr>
          <p:cNvPr id="161" name="Text 159"/>
          <p:cNvSpPr/>
          <p:nvPr/>
        </p:nvSpPr>
        <p:spPr>
          <a:xfrm>
            <a:off x="9317736" y="6291072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600.000</a:t>
            </a:r>
            <a:endParaRPr lang="en-US" sz="850" dirty="0"/>
          </a:p>
        </p:txBody>
      </p:sp>
      <p:sp>
        <p:nvSpPr>
          <p:cNvPr id="162" name="Shape 160"/>
          <p:cNvSpPr/>
          <p:nvPr/>
        </p:nvSpPr>
        <p:spPr>
          <a:xfrm>
            <a:off x="10590124" y="6291072"/>
            <a:ext cx="822960" cy="146304"/>
          </a:xfrm>
          <a:prstGeom prst="rect">
            <a:avLst/>
          </a:prstGeom>
          <a:solidFill>
            <a:srgbClr val="E6EDE6"/>
          </a:solidFill>
          <a:ln/>
        </p:spPr>
      </p:sp>
      <p:sp>
        <p:nvSpPr>
          <p:cNvPr id="163" name="Text 161"/>
          <p:cNvSpPr/>
          <p:nvPr/>
        </p:nvSpPr>
        <p:spPr>
          <a:xfrm>
            <a:off x="10590124" y="629107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Paga · D-1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1965960" y="6455664"/>
            <a:ext cx="9539935" cy="0"/>
          </a:xfrm>
          <a:prstGeom prst="line">
            <a:avLst/>
          </a:prstGeom>
          <a:noFill/>
          <a:ln w="3810">
            <a:solidFill>
              <a:srgbClr val="D9D6D0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65960" y="652881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Exibindo 8 de 42 parcelas · ordenadas por vencimento</a:t>
            </a:r>
            <a:endParaRPr lang="en-US" sz="900" dirty="0"/>
          </a:p>
        </p:txBody>
      </p:sp>
      <p:sp>
        <p:nvSpPr>
          <p:cNvPr id="166" name="Text 164"/>
          <p:cNvSpPr/>
          <p:nvPr/>
        </p:nvSpPr>
        <p:spPr>
          <a:xfrm>
            <a:off x="7162495" y="6528816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← Anterior  ·  1  2  3  4  5  ·  Próxima →</a:t>
            </a:r>
            <a:endParaRPr lang="en-US" sz="900" dirty="0"/>
          </a:p>
        </p:txBody>
      </p:sp>
      <p:sp>
        <p:nvSpPr>
          <p:cNvPr id="167" name="Text 165"/>
          <p:cNvSpPr/>
          <p:nvPr/>
        </p:nvSpPr>
        <p:spPr>
          <a:xfrm>
            <a:off x="457200" y="60807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Escreve · ac_parcelas (status, câmbio, correção)</a:t>
            </a:r>
            <a:endParaRPr lang="en-US" sz="1000" dirty="0"/>
          </a:p>
        </p:txBody>
      </p:sp>
      <p:sp>
        <p:nvSpPr>
          <p:cNvPr id="168" name="Text 166"/>
          <p:cNvSpPr/>
          <p:nvPr/>
        </p:nvSpPr>
        <p:spPr>
          <a:xfrm>
            <a:off x="5029200" y="6080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Alertas · vencimento próximo, overdue, gatilho a apurar</a:t>
            </a:r>
            <a:endParaRPr lang="en-US" sz="1000" dirty="0"/>
          </a:p>
        </p:txBody>
      </p:sp>
      <p:sp>
        <p:nvSpPr>
          <p:cNvPr id="169" name="Text 167"/>
          <p:cNvSpPr/>
          <p:nvPr/>
        </p:nvSpPr>
        <p:spPr>
          <a:xfrm>
            <a:off x="9144000" y="60807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Trilha · auditoria por baixa (quem, quando, com qual PTAX)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172" name="Text 170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 · TESOURARIA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274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4008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Matriz de responsabilidade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 responsável · A aprova · C consultado · I informado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94415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11094415" cy="365760"/>
          </a:xfrm>
          <a:prstGeom prst="rect">
            <a:avLst/>
          </a:prstGeom>
          <a:solidFill>
            <a:srgbClr val="EEEDE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1168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MÓDULO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705295" y="2011680"/>
            <a:ext cx="1234440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JURÍDICO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39735" y="2011680"/>
            <a:ext cx="1234440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TESOURARIA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74175" y="2011680"/>
            <a:ext cx="1234440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408615" y="2011680"/>
            <a:ext cx="1234440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377440"/>
            <a:ext cx="11094415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37744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Cadastro de atleta e contrapartes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05295" y="23774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939735" y="23774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74175" y="23774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408615" y="23774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74320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Contratos, aditivos e PDFs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705295" y="27432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39735" y="27432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74175" y="27432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08615" y="27432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10896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10896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Cláusulas condição→efeito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05295" y="31089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939735" y="31089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74175" y="31089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408615" y="31089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47472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Remuneração contratada (versionada)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705295" y="34747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939735" y="34747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174175" y="34747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408615" y="34747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384048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384048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Obrigações financeiras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705295" y="3840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939735" y="3840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174175" y="3840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6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408615" y="3840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48640" y="420624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420624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Parcelas, pagamentos, câmbio e PTAX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6705295" y="42062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939735" y="42062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174175" y="42062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408615" y="42062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8640" y="457200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457200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Avaliação de gatilhos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705295" y="45720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39735" y="45720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174175" y="45720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0408615" y="45720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548640" y="493776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8640" y="493776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Contabilização e amortização de intangível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705295" y="4937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7939735" y="4937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174175" y="4937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10408615" y="4937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8640" y="530352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Recuperação judicial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6705295" y="53035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7939735" y="53035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9174175" y="53035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10408615" y="53035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548640" y="5669280"/>
            <a:ext cx="11094415" cy="0"/>
          </a:xfrm>
          <a:prstGeom prst="line">
            <a:avLst/>
          </a:prstGeom>
          <a:noFill/>
          <a:ln w="5080">
            <a:solidFill>
              <a:srgbClr val="D9D6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48640" y="5669280"/>
            <a:ext cx="6156655" cy="3657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Relatórios estratégicos e cenários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6705295" y="5669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7939735" y="5669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B4A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9174175" y="5669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B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10408615" y="5669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MATRIZ RACI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362895" y="274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 /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640080"/>
            <a:ext cx="11277295" cy="0"/>
          </a:xfrm>
          <a:prstGeom prst="line">
            <a:avLst/>
          </a:prstGeom>
          <a:noFill/>
          <a:ln w="9525">
            <a:solidFill>
              <a:srgbClr val="D9D6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Rollout em quatro fases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Cada fase reaproveita telas e tabelas já existentes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2636444" cy="384048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28600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0878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Perfis e permissões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57200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840480"/>
            <a:ext cx="20878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Roles no Supabase (juridico, tesouraria, controladoria, assessor) e RLS por tabela. Escrita restrita ao dono do módulo; leitura ampla.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67964" y="2011680"/>
            <a:ext cx="2636444" cy="384048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42284" y="228600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42284" y="2651760"/>
            <a:ext cx="20878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Carga pelo Jurídico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42284" y="3657600"/>
            <a:ext cx="457200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42284" y="3840480"/>
            <a:ext cx="20878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Assistente (/criar) vira o funil único de entrada. Importação de planilhas restrita ao Jurídico para bootstrap do backlog contratual.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7288" y="2011680"/>
            <a:ext cx="2636444" cy="384048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61608" y="228600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61608" y="2651760"/>
            <a:ext cx="20878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Sanity check estruturado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61608" y="3657600"/>
            <a:ext cx="457200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1608" y="3840480"/>
            <a:ext cx="20878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Controladoria e Assessor Financeiro validam o registrado antes de virar operação. Tela de conciliação contrato × sistema.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06611" y="2011680"/>
            <a:ext cx="2636444" cy="3840480"/>
          </a:xfrm>
          <a:prstGeom prst="roundRect">
            <a:avLst>
              <a:gd name="adj" fmla="val 2081"/>
            </a:avLst>
          </a:prstGeom>
          <a:solidFill>
            <a:srgbClr val="FFFFFF"/>
          </a:solidFill>
          <a:ln w="6350">
            <a:solidFill>
              <a:srgbClr val="D9D6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0931" y="228600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6A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80931" y="2651760"/>
            <a:ext cx="20878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0D0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Consumo governado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280931" y="3657600"/>
            <a:ext cx="457200" cy="0"/>
          </a:xfrm>
          <a:prstGeom prst="line">
            <a:avLst/>
          </a:prstGeom>
          <a:noFill/>
          <a:ln w="9525">
            <a:solidFill>
              <a:srgbClr val="BEBA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0931" y="3840480"/>
            <a:ext cx="20878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52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Tesouraria, Controladoria, Jurídico e Assessor consomem o mesmo dado com propósitos distintos. Trilha de auditoria por parcela.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6355080"/>
            <a:ext cx="11277295" cy="0"/>
          </a:xfrm>
          <a:prstGeom prst="line">
            <a:avLst/>
          </a:prstGeom>
          <a:noFill/>
          <a:ln w="6350">
            <a:solidFill>
              <a:srgbClr val="D9D6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Botafogo SAF · Gestão Contratual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48095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ROLLOUT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Fluxo de Input — Glorioso Contract</dc:title>
  <dc:subject>PptxGenJS Presentation</dc:subject>
  <dc:creator>Botafogo SAF</dc:creator>
  <cp:lastModifiedBy>Botafogo SAF</cp:lastModifiedBy>
  <cp:revision>1</cp:revision>
  <dcterms:created xsi:type="dcterms:W3CDTF">2026-08-14T17:19:01Z</dcterms:created>
  <dcterms:modified xsi:type="dcterms:W3CDTF">2026-08-14T17:19:01Z</dcterms:modified>
</cp:coreProperties>
</file>