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abertura. O jurídico escreve o contrato; o sistema é onde ele vive.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500" kern="0" dirty="0">
                <a:solidFill>
                  <a:srgbClr val="D4B0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GLORIOSO · CONTRACT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899855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500" kern="0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PROPOSTA · v1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11094415" cy="0"/>
          </a:xfrm>
          <a:prstGeom prst="line">
            <a:avLst/>
          </a:prstGeom>
          <a:noFill/>
          <a:ln w="9525">
            <a:solidFill>
              <a:srgbClr val="3A2C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110944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i="1" dirty="0">
                <a:solidFill>
                  <a:srgbClr val="F3EE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Fluxo de Input
</a:t>
            </a:r>
            <a:pPr indent="0" marL="0">
              <a:buNone/>
            </a:pPr>
            <a:r>
              <a:rPr lang="en-US" sz="6000" i="1" dirty="0">
                <a:solidFill>
                  <a:srgbClr val="F3EE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</a:t>
            </a:r>
            <a:pPr indent="0" marL="0">
              <a:buNone/>
            </a:pPr>
            <a:r>
              <a:rPr lang="en-US" sz="6000" i="1" dirty="0">
                <a:solidFill>
                  <a:srgbClr val="D4B0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Informações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548640" y="411480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9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carrega, quem opera e quem consome os dados contratuais dos atletas. Uma proposta de governança apoiada no schema atleta-central já existente.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5669280"/>
            <a:ext cx="24992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ORIGEM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85800" y="5916168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3EE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Contrato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322244" y="5623560"/>
            <a:ext cx="0" cy="685800"/>
          </a:xfrm>
          <a:prstGeom prst="line">
            <a:avLst/>
          </a:prstGeom>
          <a:noFill/>
          <a:ln w="6350">
            <a:solidFill>
              <a:srgbClr val="3A2C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59404" y="5669280"/>
            <a:ext cx="24992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CARREGADOR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59404" y="5916168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3EE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Jurídico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095848" y="5623560"/>
            <a:ext cx="0" cy="685800"/>
          </a:xfrm>
          <a:prstGeom prst="line">
            <a:avLst/>
          </a:prstGeom>
          <a:noFill/>
          <a:ln w="6350">
            <a:solidFill>
              <a:srgbClr val="3A2C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33008" y="5669280"/>
            <a:ext cx="24992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OPERADOR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233008" y="5916168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3EE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Tesouraria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869451" y="5623560"/>
            <a:ext cx="0" cy="685800"/>
          </a:xfrm>
          <a:prstGeom prst="line">
            <a:avLst/>
          </a:prstGeom>
          <a:noFill/>
          <a:ln w="6350">
            <a:solidFill>
              <a:srgbClr val="3A2C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06611" y="5669280"/>
            <a:ext cx="24992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CONSUMO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006611" y="5916168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3EE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Controlad. · Assessor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0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· TESE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728655" y="457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07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i="1" dirty="0">
                <a:solidFill>
                  <a:srgbClr val="F3EE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Jurídico escreve o contrato.</a:t>
            </a:r>
            <a:endParaRPr lang="en-US" sz="4400" dirty="0"/>
          </a:p>
          <a:p>
            <a:pPr indent="0" marL="0">
              <a:buNone/>
            </a:pPr>
            <a:r>
              <a:rPr lang="en-US" sz="4400" i="1" dirty="0">
                <a:solidFill>
                  <a:srgbClr val="F3EE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sistema é onde ele vive.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548640" y="3108960"/>
            <a:ext cx="1097280" cy="0"/>
          </a:xfrm>
          <a:prstGeom prst="line">
            <a:avLst/>
          </a:prstGeom>
          <a:noFill/>
          <a:ln w="19050">
            <a:solidFill>
              <a:srgbClr val="D4B0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383280"/>
            <a:ext cx="8686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9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schema atleta-central já garante integridade — toda obrigação financeira aponta para um atleta, cláusulas têm condição e efeito, remuneração é versionada sem sobreposição. O que falta não é modelo. É fluxo: quem digita o quê, em que ordem, com qual autoridade.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6217920"/>
            <a:ext cx="11094415" cy="0"/>
          </a:xfrm>
          <a:prstGeom prst="line">
            <a:avLst/>
          </a:prstGeom>
          <a:noFill/>
          <a:ln w="9525">
            <a:solidFill>
              <a:srgbClr val="3A2C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GLORIOSO · CONTRACT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156655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0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· DIAGNÓSTICO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728655" y="457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07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F3EE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modelo está pronto. Falta dono do input.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3515258" cy="3657600"/>
          </a:xfrm>
          <a:prstGeom prst="rect">
            <a:avLst/>
          </a:prstGeom>
          <a:solidFill>
            <a:srgbClr val="241B16"/>
          </a:solidFill>
          <a:ln w="9525">
            <a:solidFill>
              <a:srgbClr val="3A2C2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46888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8CC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RESOLVIDO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28751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3EE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de dados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68680" y="3566160"/>
            <a:ext cx="457200" cy="0"/>
          </a:xfrm>
          <a:prstGeom prst="line">
            <a:avLst/>
          </a:prstGeom>
          <a:noFill/>
          <a:ln w="9525">
            <a:solidFill>
              <a:srgbClr val="4A38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749040"/>
            <a:ext cx="287517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9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ac_atletas, ac_contratos, ac_clausulas, ac_obrigacoes_financeiras, ac_parcelas, ac_remuneracoes. Multimoeda, PTAX, intangível e passivo contingente.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38218" y="2194560"/>
            <a:ext cx="3515258" cy="3657600"/>
          </a:xfrm>
          <a:prstGeom prst="rect">
            <a:avLst/>
          </a:prstGeom>
          <a:solidFill>
            <a:srgbClr val="241B16"/>
          </a:solidFill>
          <a:ln w="9525">
            <a:solidFill>
              <a:srgbClr val="3A2C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58258" y="246888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8CC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RESOLVIDO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58258" y="2834640"/>
            <a:ext cx="28751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3EE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Telas de leitura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4658258" y="3566160"/>
            <a:ext cx="457200" cy="0"/>
          </a:xfrm>
          <a:prstGeom prst="line">
            <a:avLst/>
          </a:prstGeom>
          <a:noFill/>
          <a:ln w="9525">
            <a:solidFill>
              <a:srgbClr val="4A38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8258" y="3749040"/>
            <a:ext cx="287517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9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Album, Visão Atletas, Consolidado, Sell-on, Direitos Econômicos, Gatilhos, Recuperação Judicial. Todas prontas para consumir dado governado.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27797" y="2194560"/>
            <a:ext cx="3515258" cy="3657600"/>
          </a:xfrm>
          <a:prstGeom prst="rect">
            <a:avLst/>
          </a:prstGeom>
          <a:solidFill>
            <a:srgbClr val="241B16"/>
          </a:solidFill>
          <a:ln w="9525">
            <a:solidFill>
              <a:srgbClr val="3A2C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47837" y="246888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0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 ABERTO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447837" y="2834640"/>
            <a:ext cx="28751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3EE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Governança de entrada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8447837" y="3566160"/>
            <a:ext cx="457200" cy="0"/>
          </a:xfrm>
          <a:prstGeom prst="line">
            <a:avLst/>
          </a:prstGeom>
          <a:noFill/>
          <a:ln w="9525">
            <a:solidFill>
              <a:srgbClr val="4A38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47837" y="3749040"/>
            <a:ext cx="287517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9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dono claro do input, o contrato é fonte da verdade só no papel — não no sistema. É o gap que esta proposta fecha.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6217920"/>
            <a:ext cx="11094415" cy="0"/>
          </a:xfrm>
          <a:prstGeom prst="line">
            <a:avLst/>
          </a:prstGeom>
          <a:noFill/>
          <a:ln w="9525">
            <a:solidFill>
              <a:srgbClr val="3A2C2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GLORIOSO · CONTRACT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156655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DIAGNÓSTICO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0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· FLUXO PROPOSTO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728655" y="457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07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rgbClr val="F3EE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passagem de bastão, não um comitê.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545738" cy="4206240"/>
          </a:xfrm>
          <a:prstGeom prst="rect">
            <a:avLst/>
          </a:prstGeom>
          <a:solidFill>
            <a:srgbClr val="241B16"/>
          </a:solidFill>
          <a:ln w="9525">
            <a:solidFill>
              <a:srgbClr val="3A2C2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57400"/>
            <a:ext cx="2997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8FB0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ENTRADA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71418" y="20116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i="1" dirty="0">
                <a:solidFill>
                  <a:srgbClr val="8A75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3EE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Jurídico carrega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3017520"/>
            <a:ext cx="2997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95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Owner do contrato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22960" y="3429000"/>
            <a:ext cx="457200" cy="0"/>
          </a:xfrm>
          <a:prstGeom prst="line">
            <a:avLst/>
          </a:prstGeom>
          <a:noFill/>
          <a:ln w="15875">
            <a:solidFill>
              <a:srgbClr val="8FB0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611880"/>
            <a:ext cx="299709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250" dirty="0">
                <a:solidFill>
                  <a:srgbClr val="F3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do atleta e contrapartes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250" dirty="0">
                <a:solidFill>
                  <a:srgbClr val="F3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Contrato: trabalho, imagem, aquisição, empréstimo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250" dirty="0">
                <a:solidFill>
                  <a:srgbClr val="F3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Cláusulas: condição, efeito, escopo, janela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250" dirty="0">
                <a:solidFill>
                  <a:srgbClr val="F3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Aditivos versionados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250" dirty="0">
                <a:solidFill>
                  <a:srgbClr val="F3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Remuneração inicial contratada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250" dirty="0">
                <a:solidFill>
                  <a:srgbClr val="F3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Anexos: PDF do contrato e aditivos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22978" y="1828800"/>
            <a:ext cx="3545738" cy="4206240"/>
          </a:xfrm>
          <a:prstGeom prst="rect">
            <a:avLst/>
          </a:prstGeom>
          <a:solidFill>
            <a:srgbClr val="241B16"/>
          </a:solidFill>
          <a:ln w="9525">
            <a:solidFill>
              <a:srgbClr val="3A2C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97298" y="2057400"/>
            <a:ext cx="2997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8CC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OPERAÇÃO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45757" y="20116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i="1" dirty="0">
                <a:solidFill>
                  <a:srgbClr val="8A75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597298" y="246888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3EE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Tesouraria opera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597298" y="3017520"/>
            <a:ext cx="2997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95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Owner do fluxo de caixa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97298" y="3429000"/>
            <a:ext cx="457200" cy="0"/>
          </a:xfrm>
          <a:prstGeom prst="line">
            <a:avLst/>
          </a:prstGeom>
          <a:noFill/>
          <a:ln w="15875">
            <a:solidFill>
              <a:srgbClr val="8CC59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97298" y="3611880"/>
            <a:ext cx="299709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250" dirty="0">
                <a:solidFill>
                  <a:srgbClr val="F3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Cronograma de parcelas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250" dirty="0">
                <a:solidFill>
                  <a:srgbClr val="F3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Pagamentos, baixas e status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250" dirty="0">
                <a:solidFill>
                  <a:srgbClr val="F3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Câmbio e PTAX aplicada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250" dirty="0">
                <a:solidFill>
                  <a:srgbClr val="F3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de correção por parcela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250" dirty="0">
                <a:solidFill>
                  <a:srgbClr val="F3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de gatilhos financeiros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250" dirty="0">
                <a:solidFill>
                  <a:srgbClr val="F3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Renegociações e acordos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097317" y="1828800"/>
            <a:ext cx="3545738" cy="4206240"/>
          </a:xfrm>
          <a:prstGeom prst="rect">
            <a:avLst/>
          </a:prstGeom>
          <a:solidFill>
            <a:srgbClr val="241B16"/>
          </a:solidFill>
          <a:ln w="9525">
            <a:solidFill>
              <a:srgbClr val="3A2C2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71637" y="2057400"/>
            <a:ext cx="2997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0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CONSUMO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820095" y="20116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i="1" dirty="0">
                <a:solidFill>
                  <a:srgbClr val="8A75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371637" y="246888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3EE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Todos consomem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8371637" y="3017520"/>
            <a:ext cx="2997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95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Controladoria · Assessor · Jurídico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371637" y="3429000"/>
            <a:ext cx="457200" cy="0"/>
          </a:xfrm>
          <a:prstGeom prst="line">
            <a:avLst/>
          </a:prstGeom>
          <a:noFill/>
          <a:ln w="15875">
            <a:solidFill>
              <a:srgbClr val="D4B07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71637" y="3611880"/>
            <a:ext cx="299709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250" dirty="0">
                <a:solidFill>
                  <a:srgbClr val="F3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Consolidado e Visão Atletas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250" dirty="0">
                <a:solidFill>
                  <a:srgbClr val="F3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Sell-on e direitos econômicos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250" dirty="0">
                <a:solidFill>
                  <a:srgbClr val="F3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Gatilhos ativos e contingentes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250" dirty="0">
                <a:solidFill>
                  <a:srgbClr val="F3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Recuperação judicial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250" dirty="0">
                <a:solidFill>
                  <a:srgbClr val="F3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Amortização do intangível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250" dirty="0">
                <a:solidFill>
                  <a:srgbClr val="F3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Exposição por moeda e contraparte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48640" y="6217920"/>
            <a:ext cx="11094415" cy="0"/>
          </a:xfrm>
          <a:prstGeom prst="line">
            <a:avLst/>
          </a:prstGeom>
          <a:noFill/>
          <a:ln w="9525">
            <a:solidFill>
              <a:srgbClr val="3A2C2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GLORIOSO · CONTRACT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156655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FLUXO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0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PAPÉIS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728655" y="457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07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rgbClr val="F3EE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áreas, um dado.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89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escreve o contrato descreve o mundo. Quem paga descreve o caixa. Ninguém descreve os dois.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2636444" cy="3840480"/>
          </a:xfrm>
          <a:prstGeom prst="rect">
            <a:avLst/>
          </a:prstGeom>
          <a:solidFill>
            <a:srgbClr val="241B16"/>
          </a:solidFill>
          <a:ln w="9525">
            <a:solidFill>
              <a:srgbClr val="3A2C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423160"/>
            <a:ext cx="20878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3EE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Jurídico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20878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FB0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CARREGA · FONTE DA VERDADE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22960" y="3291840"/>
            <a:ext cx="365760" cy="0"/>
          </a:xfrm>
          <a:prstGeom prst="line">
            <a:avLst/>
          </a:prstGeom>
          <a:noFill/>
          <a:ln w="15875">
            <a:solidFill>
              <a:srgbClr val="8FB0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429000"/>
            <a:ext cx="2087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ESCREVE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" y="3657600"/>
            <a:ext cx="20878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F3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Contratos e aditivos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F3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Cláusulas condição→efeito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F3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Remuneração contratada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F3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Contrapartes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4892040"/>
            <a:ext cx="2087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CONSOME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5120640"/>
            <a:ext cx="20878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A89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Gatilhos em avaliação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A89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Passivo contingente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A89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Recuperação judicial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367964" y="2194560"/>
            <a:ext cx="2636444" cy="3840480"/>
          </a:xfrm>
          <a:prstGeom prst="rect">
            <a:avLst/>
          </a:prstGeom>
          <a:solidFill>
            <a:srgbClr val="241B16"/>
          </a:solidFill>
          <a:ln w="9525">
            <a:solidFill>
              <a:srgbClr val="3A2C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42284" y="2423160"/>
            <a:ext cx="20878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3EE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Tesouraria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642284" y="2971800"/>
            <a:ext cx="20878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CC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 · FINANCEIRO REAL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642284" y="3291840"/>
            <a:ext cx="365760" cy="0"/>
          </a:xfrm>
          <a:prstGeom prst="line">
            <a:avLst/>
          </a:prstGeom>
          <a:noFill/>
          <a:ln w="15875">
            <a:solidFill>
              <a:srgbClr val="8CC59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42284" y="3429000"/>
            <a:ext cx="2087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ESCREVE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42284" y="3657600"/>
            <a:ext cx="20878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F3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Parcelas e vencimentos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F3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Baixas e status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F3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Câmbio, PTAX, correção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F3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Efeitos de gatilhos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42284" y="4892040"/>
            <a:ext cx="2087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CONSOME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42284" y="5120640"/>
            <a:ext cx="20878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A89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Cronograma consolidado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A89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Exposição por moeda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A89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projetado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87288" y="2194560"/>
            <a:ext cx="2636444" cy="3840480"/>
          </a:xfrm>
          <a:prstGeom prst="rect">
            <a:avLst/>
          </a:prstGeom>
          <a:solidFill>
            <a:srgbClr val="241B16"/>
          </a:solidFill>
          <a:ln w="9525">
            <a:solidFill>
              <a:srgbClr val="3A2C2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61608" y="2423160"/>
            <a:ext cx="20878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3EE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Controladoria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461608" y="2971800"/>
            <a:ext cx="20878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E0B3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RECONCILIA · CONTÁBIL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461608" y="3291840"/>
            <a:ext cx="365760" cy="0"/>
          </a:xfrm>
          <a:prstGeom prst="line">
            <a:avLst/>
          </a:prstGeom>
          <a:noFill/>
          <a:ln w="15875">
            <a:solidFill>
              <a:srgbClr val="E0B37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61608" y="3429000"/>
            <a:ext cx="2087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ESCREVE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461608" y="3657600"/>
            <a:ext cx="20878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F3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Rubrica e tratamento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F3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e centro de custo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F3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Amortização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61608" y="4892040"/>
            <a:ext cx="2087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CONSOME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61608" y="5120640"/>
            <a:ext cx="20878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A89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Orçado × realizado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A89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Intangível capitalizado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A89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 por atleta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006611" y="2194560"/>
            <a:ext cx="2636444" cy="3840480"/>
          </a:xfrm>
          <a:prstGeom prst="rect">
            <a:avLst/>
          </a:prstGeom>
          <a:solidFill>
            <a:srgbClr val="241B16"/>
          </a:solidFill>
          <a:ln w="9525">
            <a:solidFill>
              <a:srgbClr val="3A2C2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80931" y="2423160"/>
            <a:ext cx="20878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3EE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Assessor Financeiro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9280931" y="2971800"/>
            <a:ext cx="20878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79B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ANALISA · ESTRATÉGICO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9280931" y="3291840"/>
            <a:ext cx="365760" cy="0"/>
          </a:xfrm>
          <a:prstGeom prst="line">
            <a:avLst/>
          </a:prstGeom>
          <a:noFill/>
          <a:ln w="15875">
            <a:solidFill>
              <a:srgbClr val="C79BD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280931" y="3429000"/>
            <a:ext cx="2087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ESCREVE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9280931" y="3657600"/>
            <a:ext cx="20878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F3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escreve transacional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F3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Anotações e cenários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280931" y="4892040"/>
            <a:ext cx="2087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CONSOME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280931" y="5120640"/>
            <a:ext cx="20878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A89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Exposição consolidada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A89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Sell-on e direitos econômicos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–"/>
            </a:pPr>
            <a:r>
              <a:rPr lang="en-US" sz="1100" dirty="0">
                <a:solidFill>
                  <a:srgbClr val="A89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Simulações de mais-valia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48640" y="6217920"/>
            <a:ext cx="11094415" cy="0"/>
          </a:xfrm>
          <a:prstGeom prst="line">
            <a:avLst/>
          </a:prstGeom>
          <a:noFill/>
          <a:ln w="9525">
            <a:solidFill>
              <a:srgbClr val="3A2C2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GLORIOSO · CONTRACT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156655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PAPÉIS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0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· MATRIZ DE RESPONSABILIDADE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728655" y="457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07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3EE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faz o quê, por módulo.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B0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9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responsável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96596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FB0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240280" y="1600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9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38328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C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0" y="1600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9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consultado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0060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74920" y="1600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9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informado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2103120"/>
            <a:ext cx="6888175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spc="300" kern="0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Módulo do sistema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436815" y="2103120"/>
            <a:ext cx="10515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50" spc="300" kern="0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Jurídico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488375" y="2103120"/>
            <a:ext cx="10515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50" spc="300" kern="0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Tesouraria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539935" y="2103120"/>
            <a:ext cx="10515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50" spc="300" kern="0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Controladoria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0591495" y="2103120"/>
            <a:ext cx="10515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50" spc="300" kern="0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Assessor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8640" y="2423160"/>
            <a:ext cx="11094415" cy="0"/>
          </a:xfrm>
          <a:prstGeom prst="line">
            <a:avLst/>
          </a:prstGeom>
          <a:noFill/>
          <a:ln w="9525">
            <a:solidFill>
              <a:srgbClr val="4A38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2468880"/>
            <a:ext cx="6888175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atleta e contrapartes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436815" y="2468880"/>
            <a:ext cx="10515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B0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88375" y="2468880"/>
            <a:ext cx="10515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539935" y="2468880"/>
            <a:ext cx="10515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C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591495" y="2468880"/>
            <a:ext cx="10515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2788920"/>
            <a:ext cx="11094415" cy="0"/>
          </a:xfrm>
          <a:prstGeom prst="line">
            <a:avLst/>
          </a:prstGeom>
          <a:noFill/>
          <a:ln w="6350">
            <a:solidFill>
              <a:srgbClr val="3A2C2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2788920"/>
            <a:ext cx="6888175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Contratos, aditivos e PDFs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436815" y="2788920"/>
            <a:ext cx="10515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B0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488375" y="2788920"/>
            <a:ext cx="10515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539935" y="2788920"/>
            <a:ext cx="10515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C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591495" y="2788920"/>
            <a:ext cx="10515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48640" y="3108960"/>
            <a:ext cx="11094415" cy="0"/>
          </a:xfrm>
          <a:prstGeom prst="line">
            <a:avLst/>
          </a:prstGeom>
          <a:noFill/>
          <a:ln w="6350">
            <a:solidFill>
              <a:srgbClr val="3A2C2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3108960"/>
            <a:ext cx="6888175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Cláusulas: condição, efeito, escopo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436815" y="3108960"/>
            <a:ext cx="10515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B0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488375" y="3108960"/>
            <a:ext cx="10515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C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9539935" y="3108960"/>
            <a:ext cx="10515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C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0591495" y="3108960"/>
            <a:ext cx="10515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48640" y="3429000"/>
            <a:ext cx="11094415" cy="0"/>
          </a:xfrm>
          <a:prstGeom prst="line">
            <a:avLst/>
          </a:prstGeom>
          <a:noFill/>
          <a:ln w="6350">
            <a:solidFill>
              <a:srgbClr val="3A2C2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3429000"/>
            <a:ext cx="6888175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Remuneração contratada (versionada)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436815" y="3429000"/>
            <a:ext cx="10515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B0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488375" y="3429000"/>
            <a:ext cx="10515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539935" y="3429000"/>
            <a:ext cx="10515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C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10591495" y="3429000"/>
            <a:ext cx="10515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48640" y="3749040"/>
            <a:ext cx="11094415" cy="0"/>
          </a:xfrm>
          <a:prstGeom prst="line">
            <a:avLst/>
          </a:prstGeom>
          <a:noFill/>
          <a:ln w="6350">
            <a:solidFill>
              <a:srgbClr val="3A2C2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48640" y="3749040"/>
            <a:ext cx="6888175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Obrigações financeiras (natureza, direção)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7436815" y="3749040"/>
            <a:ext cx="10515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C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488375" y="3749040"/>
            <a:ext cx="10515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B0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9539935" y="3749040"/>
            <a:ext cx="10515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FB0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0591495" y="3749040"/>
            <a:ext cx="10515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548640" y="4069080"/>
            <a:ext cx="11094415" cy="0"/>
          </a:xfrm>
          <a:prstGeom prst="line">
            <a:avLst/>
          </a:prstGeom>
          <a:noFill/>
          <a:ln w="6350">
            <a:solidFill>
              <a:srgbClr val="3A2C2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48640" y="4069080"/>
            <a:ext cx="6888175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Parcelas, pagamentos, câmbio e PTAX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7436815" y="4069080"/>
            <a:ext cx="10515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8488375" y="4069080"/>
            <a:ext cx="10515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B0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9539935" y="4069080"/>
            <a:ext cx="10515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C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10591495" y="4069080"/>
            <a:ext cx="10515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548640" y="4389120"/>
            <a:ext cx="11094415" cy="0"/>
          </a:xfrm>
          <a:prstGeom prst="line">
            <a:avLst/>
          </a:prstGeom>
          <a:noFill/>
          <a:ln w="6350">
            <a:solidFill>
              <a:srgbClr val="3A2C22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48640" y="4389120"/>
            <a:ext cx="6888175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de gatilho (jogos, gols, metas)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7436815" y="4389120"/>
            <a:ext cx="10515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C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8488375" y="4389120"/>
            <a:ext cx="10515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B0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9539935" y="4389120"/>
            <a:ext cx="10515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10591495" y="4389120"/>
            <a:ext cx="10515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548640" y="4709160"/>
            <a:ext cx="11094415" cy="0"/>
          </a:xfrm>
          <a:prstGeom prst="line">
            <a:avLst/>
          </a:prstGeom>
          <a:noFill/>
          <a:ln w="6350">
            <a:solidFill>
              <a:srgbClr val="3A2C22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48640" y="4709160"/>
            <a:ext cx="6888175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Contabilização e amortização de intangível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7436815" y="4709160"/>
            <a:ext cx="10515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8488375" y="4709160"/>
            <a:ext cx="10515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C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9539935" y="4709160"/>
            <a:ext cx="10515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B0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10591495" y="4709160"/>
            <a:ext cx="10515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548640" y="5029200"/>
            <a:ext cx="11094415" cy="0"/>
          </a:xfrm>
          <a:prstGeom prst="line">
            <a:avLst/>
          </a:prstGeom>
          <a:noFill/>
          <a:ln w="6350">
            <a:solidFill>
              <a:srgbClr val="3A2C22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48640" y="5029200"/>
            <a:ext cx="6888175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Recuperação judicial (firme × contingente)</a:t>
            </a:r>
            <a:endParaRPr lang="en-US" sz="1200" dirty="0"/>
          </a:p>
        </p:txBody>
      </p:sp>
      <p:sp>
        <p:nvSpPr>
          <p:cNvPr id="68" name="Text 66"/>
          <p:cNvSpPr/>
          <p:nvPr/>
        </p:nvSpPr>
        <p:spPr>
          <a:xfrm>
            <a:off x="7436815" y="5029200"/>
            <a:ext cx="10515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C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8488375" y="5029200"/>
            <a:ext cx="10515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C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1200" dirty="0"/>
          </a:p>
        </p:txBody>
      </p:sp>
      <p:sp>
        <p:nvSpPr>
          <p:cNvPr id="70" name="Text 68"/>
          <p:cNvSpPr/>
          <p:nvPr/>
        </p:nvSpPr>
        <p:spPr>
          <a:xfrm>
            <a:off x="9539935" y="5029200"/>
            <a:ext cx="10515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B0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10591495" y="5029200"/>
            <a:ext cx="10515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548640" y="5349240"/>
            <a:ext cx="11094415" cy="0"/>
          </a:xfrm>
          <a:prstGeom prst="line">
            <a:avLst/>
          </a:prstGeom>
          <a:noFill/>
          <a:ln w="6350">
            <a:solidFill>
              <a:srgbClr val="3A2C22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48640" y="5349240"/>
            <a:ext cx="6888175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Relatórios estratégicos e cenários</a:t>
            </a:r>
            <a:endParaRPr lang="en-US" sz="1200" dirty="0"/>
          </a:p>
        </p:txBody>
      </p:sp>
      <p:sp>
        <p:nvSpPr>
          <p:cNvPr id="74" name="Text 72"/>
          <p:cNvSpPr/>
          <p:nvPr/>
        </p:nvSpPr>
        <p:spPr>
          <a:xfrm>
            <a:off x="7436815" y="5349240"/>
            <a:ext cx="10515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8488375" y="5349240"/>
            <a:ext cx="10515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endParaRPr lang="en-US" sz="1200" dirty="0"/>
          </a:p>
        </p:txBody>
      </p:sp>
      <p:sp>
        <p:nvSpPr>
          <p:cNvPr id="76" name="Text 74"/>
          <p:cNvSpPr/>
          <p:nvPr/>
        </p:nvSpPr>
        <p:spPr>
          <a:xfrm>
            <a:off x="9539935" y="5349240"/>
            <a:ext cx="10515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C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10591495" y="5349240"/>
            <a:ext cx="10515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B0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548640" y="6217920"/>
            <a:ext cx="11094415" cy="0"/>
          </a:xfrm>
          <a:prstGeom prst="line">
            <a:avLst/>
          </a:prstGeom>
          <a:noFill/>
          <a:ln w="9525">
            <a:solidFill>
              <a:srgbClr val="3A2C22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GLORIOSO · CONTRACT</a:t>
            </a:r>
            <a:endParaRPr lang="en-US" sz="900" dirty="0"/>
          </a:p>
        </p:txBody>
      </p:sp>
      <p:sp>
        <p:nvSpPr>
          <p:cNvPr id="80" name="Text 78"/>
          <p:cNvSpPr/>
          <p:nvPr/>
        </p:nvSpPr>
        <p:spPr>
          <a:xfrm>
            <a:off x="6156655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MATRIZ RACI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D4B0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· ROLLOUT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728655" y="457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07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rgbClr val="F3EE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fases para pôr em pé.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602154" cy="4023360"/>
          </a:xfrm>
          <a:prstGeom prst="rect">
            <a:avLst/>
          </a:prstGeom>
          <a:solidFill>
            <a:srgbClr val="241B16"/>
          </a:solidFill>
          <a:ln w="9525">
            <a:solidFill>
              <a:srgbClr val="3A2C2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94560"/>
            <a:ext cx="205351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i="1" dirty="0">
                <a:solidFill>
                  <a:srgbClr val="D4B0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7200" dirty="0"/>
          </a:p>
        </p:txBody>
      </p:sp>
      <p:sp>
        <p:nvSpPr>
          <p:cNvPr id="7" name="Shape 5"/>
          <p:cNvSpPr/>
          <p:nvPr/>
        </p:nvSpPr>
        <p:spPr>
          <a:xfrm>
            <a:off x="822960" y="3566160"/>
            <a:ext cx="457200" cy="0"/>
          </a:xfrm>
          <a:prstGeom prst="line">
            <a:avLst/>
          </a:prstGeom>
          <a:noFill/>
          <a:ln w="9525">
            <a:solidFill>
              <a:srgbClr val="4A38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703320"/>
            <a:ext cx="20535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3EE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Perfis e permissões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4526280"/>
            <a:ext cx="20535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9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no Supabase — juridico, tesouraria, controladoria, assessor. RLS por tabela: Jurídico grava contrato e cláusula; Tesouraria grava parcela; leitura ampla para todos.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379394" y="1920240"/>
            <a:ext cx="2602154" cy="4023360"/>
          </a:xfrm>
          <a:prstGeom prst="rect">
            <a:avLst/>
          </a:prstGeom>
          <a:solidFill>
            <a:srgbClr val="241B16"/>
          </a:solidFill>
          <a:ln w="9525">
            <a:solidFill>
              <a:srgbClr val="3A2C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3714" y="2194560"/>
            <a:ext cx="205351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i="1" dirty="0">
                <a:solidFill>
                  <a:srgbClr val="D4B0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7200" dirty="0"/>
          </a:p>
        </p:txBody>
      </p:sp>
      <p:sp>
        <p:nvSpPr>
          <p:cNvPr id="12" name="Shape 10"/>
          <p:cNvSpPr/>
          <p:nvPr/>
        </p:nvSpPr>
        <p:spPr>
          <a:xfrm>
            <a:off x="3653714" y="3566160"/>
            <a:ext cx="457200" cy="0"/>
          </a:xfrm>
          <a:prstGeom prst="line">
            <a:avLst/>
          </a:prstGeom>
          <a:noFill/>
          <a:ln w="9525">
            <a:solidFill>
              <a:srgbClr val="4A38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3714" y="3703320"/>
            <a:ext cx="20535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3EE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Carga pelo Jurídico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653714" y="4526280"/>
            <a:ext cx="20535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9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PageWizard como funil único de entrada. Importação de planilhas restrita ao Jurídico para bootstrap do backlog contratual existente.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0148" y="1920240"/>
            <a:ext cx="2602154" cy="4023360"/>
          </a:xfrm>
          <a:prstGeom prst="rect">
            <a:avLst/>
          </a:prstGeom>
          <a:solidFill>
            <a:srgbClr val="241B16"/>
          </a:solidFill>
          <a:ln w="9525">
            <a:solidFill>
              <a:srgbClr val="3A2C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84468" y="2194560"/>
            <a:ext cx="205351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i="1" dirty="0">
                <a:solidFill>
                  <a:srgbClr val="D4B0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III</a:t>
            </a:r>
            <a:endParaRPr lang="en-US" sz="7200" dirty="0"/>
          </a:p>
        </p:txBody>
      </p:sp>
      <p:sp>
        <p:nvSpPr>
          <p:cNvPr id="17" name="Shape 15"/>
          <p:cNvSpPr/>
          <p:nvPr/>
        </p:nvSpPr>
        <p:spPr>
          <a:xfrm>
            <a:off x="6484468" y="3566160"/>
            <a:ext cx="457200" cy="0"/>
          </a:xfrm>
          <a:prstGeom prst="line">
            <a:avLst/>
          </a:prstGeom>
          <a:noFill/>
          <a:ln w="9525">
            <a:solidFill>
              <a:srgbClr val="4A38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84468" y="3703320"/>
            <a:ext cx="20535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3EE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Tesouraria assume o caixa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484468" y="4526280"/>
            <a:ext cx="20535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9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de parcelas com baixa, câmbio e correção. Trilha de auditoria por parcela. Alertas de vencimento e de gatilhos a apurar.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040901" y="1920240"/>
            <a:ext cx="2602154" cy="4023360"/>
          </a:xfrm>
          <a:prstGeom prst="rect">
            <a:avLst/>
          </a:prstGeom>
          <a:solidFill>
            <a:srgbClr val="241B16"/>
          </a:solidFill>
          <a:ln w="9525">
            <a:solidFill>
              <a:srgbClr val="3A2C2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15221" y="2194560"/>
            <a:ext cx="205351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i="1" dirty="0">
                <a:solidFill>
                  <a:srgbClr val="D4B0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</a:t>
            </a:r>
            <a:endParaRPr lang="en-US" sz="7200" dirty="0"/>
          </a:p>
        </p:txBody>
      </p:sp>
      <p:sp>
        <p:nvSpPr>
          <p:cNvPr id="22" name="Shape 20"/>
          <p:cNvSpPr/>
          <p:nvPr/>
        </p:nvSpPr>
        <p:spPr>
          <a:xfrm>
            <a:off x="9315221" y="3566160"/>
            <a:ext cx="457200" cy="0"/>
          </a:xfrm>
          <a:prstGeom prst="line">
            <a:avLst/>
          </a:prstGeom>
          <a:noFill/>
          <a:ln w="9525">
            <a:solidFill>
              <a:srgbClr val="4A382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15221" y="3703320"/>
            <a:ext cx="20535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3EE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Consumo governado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315221" y="4526280"/>
            <a:ext cx="20535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9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Consolidado, Sell-on, Direitos Econômicos, Gatilhos e Recuperação Judicial passam a ler dado governado, não digitado ad-hoc.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6217920"/>
            <a:ext cx="11094415" cy="0"/>
          </a:xfrm>
          <a:prstGeom prst="line">
            <a:avLst/>
          </a:prstGeom>
          <a:noFill/>
          <a:ln w="9525">
            <a:solidFill>
              <a:srgbClr val="3A2C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GLORIOSO · CONTRACT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56655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7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ROLLOUT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Fluxo de Input — Glorioso</dc:title>
  <dc:subject>PptxGenJS Presentation</dc:subject>
  <dc:creator>Glorioso-Contract</dc:creator>
  <cp:lastModifiedBy>Glorioso-Contract</cp:lastModifiedBy>
  <cp:revision>1</cp:revision>
  <dcterms:created xsi:type="dcterms:W3CDTF">2026-08-12T20:13:46Z</dcterms:created>
  <dcterms:modified xsi:type="dcterms:W3CDTF">2026-08-12T20:13:46Z</dcterms:modified>
</cp:coreProperties>
</file>