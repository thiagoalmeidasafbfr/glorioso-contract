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991295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PROPOSTA · v3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Fluxo de Input das Informações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 negociação sigilosa do departamento de futebol ao consumo contínuo pelas áreas financeiras. Quatro fases, um único banco de dados.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4937760"/>
            <a:ext cx="2682164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12064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5440680"/>
            <a:ext cx="2316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Negociação (sigilosa)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22244" y="4937760"/>
            <a:ext cx="2682164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512064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05124" y="5440680"/>
            <a:ext cx="2316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 registra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87288" y="4937760"/>
            <a:ext cx="2682164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0168" y="512064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70168" y="5440680"/>
            <a:ext cx="2316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52331" y="4937760"/>
            <a:ext cx="2682164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211" y="512064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235211" y="5440680"/>
            <a:ext cx="2316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Consumo por 4 áreas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Documento interno · sujeito a validação com as áreas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Como a informação circula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Fluxograma em 4 fases · schema atleta-central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Negociação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sigilo interno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assinado &amp; registrado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validação do dado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5257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5486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Consumo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57150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contínuo por área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74520" y="1783080"/>
            <a:ext cx="0" cy="434340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1828800"/>
            <a:ext cx="9677095" cy="777240"/>
          </a:xfrm>
          <a:prstGeom prst="rect">
            <a:avLst/>
          </a:prstGeom>
          <a:solidFill>
            <a:srgbClr val="EEEDEA"/>
          </a:solidFill>
          <a:ln w="9525">
            <a:solidFill>
              <a:srgbClr val="BEBAB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2240280" y="1920240"/>
            <a:ext cx="9311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DEPARTAMENTO DE FUTEBOL · INTERNO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40280" y="2148840"/>
            <a:ext cx="9311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Negociação em andamento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240280" y="2377440"/>
            <a:ext cx="9311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Informação sigilosa — para a companhia, essa negociação ainda não existe.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95948" y="2606040"/>
            <a:ext cx="0" cy="164592"/>
          </a:xfrm>
          <a:prstGeom prst="line">
            <a:avLst/>
          </a:prstGeom>
          <a:noFill/>
          <a:ln w="15875">
            <a:solidFill>
              <a:srgbClr val="100D0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057400" y="2788920"/>
            <a:ext cx="9677095" cy="960120"/>
          </a:xfrm>
          <a:prstGeom prst="rect">
            <a:avLst/>
          </a:prstGeom>
          <a:solidFill>
            <a:srgbClr val="FFFFFF"/>
          </a:solidFill>
          <a:ln w="17780">
            <a:solidFill>
              <a:srgbClr val="8F6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0280" y="2880360"/>
            <a:ext cx="9311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CARREGA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240280" y="3090672"/>
            <a:ext cx="9311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 registra tudo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24028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4028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 + aditivos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8620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8620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Cláusulas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53212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3212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Remuneração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7804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Contrapartes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82396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2396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PDF do contrato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895948" y="3749040"/>
            <a:ext cx="0" cy="118872"/>
          </a:xfrm>
          <a:prstGeom prst="line">
            <a:avLst/>
          </a:prstGeom>
          <a:noFill/>
          <a:ln w="15875">
            <a:solidFill>
              <a:srgbClr val="100D0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057400" y="3886200"/>
            <a:ext cx="9677095" cy="822960"/>
          </a:xfrm>
          <a:prstGeom prst="roundRect">
            <a:avLst>
              <a:gd name="adj" fmla="val 8889"/>
            </a:avLst>
          </a:prstGeom>
          <a:solidFill>
            <a:srgbClr val="F3F2EF"/>
          </a:solidFill>
          <a:ln w="15240">
            <a:solidFill>
              <a:srgbClr val="100D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40280" y="3959352"/>
            <a:ext cx="9311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BANCO DE DADOS · SCHEMA ATLETA-CENTRAL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240280" y="4197096"/>
            <a:ext cx="931133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240280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ac_atletas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102547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ac_contratos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964814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ac_clausulas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827081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ac_remuneracoes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689348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ac_obrigacoes_financeiras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240280" y="4471416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ac_parcelas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102547" y="4471416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ac_entidades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964814" y="4471416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ac_taxas_cambio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827081" y="4471416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ac_documentos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95948" y="4709160"/>
            <a:ext cx="0" cy="274320"/>
          </a:xfrm>
          <a:prstGeom prst="line">
            <a:avLst/>
          </a:prstGeom>
          <a:noFill/>
          <a:ln w="15875">
            <a:solidFill>
              <a:srgbClr val="100D0A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2057400" y="4983480"/>
            <a:ext cx="4769968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1F567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221992" y="5056632"/>
            <a:ext cx="444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2221992" y="5239512"/>
            <a:ext cx="444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221992" y="5532120"/>
            <a:ext cx="444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 valor, moeda, contraparte, cronograma e rubrica × contrato.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964528" y="4983480"/>
            <a:ext cx="4769968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1F567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29120" y="5056632"/>
            <a:ext cx="444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129120" y="5239512"/>
            <a:ext cx="444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 Financeiro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129120" y="5532120"/>
            <a:ext cx="444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 financeiro: exposição, ownership e gatilhos batem com a negociação.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895948" y="5852160"/>
            <a:ext cx="0" cy="182880"/>
          </a:xfrm>
          <a:prstGeom prst="line">
            <a:avLst/>
          </a:prstGeom>
          <a:noFill/>
          <a:ln w="15875">
            <a:solidFill>
              <a:srgbClr val="100D0A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057400" y="6080760"/>
            <a:ext cx="2336978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2F6B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167128" y="6153912"/>
            <a:ext cx="211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TESOURARIA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167128" y="6318504"/>
            <a:ext cx="211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Caixa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4504106" y="6080760"/>
            <a:ext cx="2336978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F567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613834" y="6153912"/>
            <a:ext cx="211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613834" y="6318504"/>
            <a:ext cx="211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950812" y="6080760"/>
            <a:ext cx="2336978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8F6A2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60540" y="6153912"/>
            <a:ext cx="211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7060540" y="6318504"/>
            <a:ext cx="211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Risco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9397517" y="6080760"/>
            <a:ext cx="2336978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51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507245" y="6153912"/>
            <a:ext cx="211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507245" y="6318504"/>
            <a:ext cx="211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Decisão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457200" y="6080760"/>
            <a:ext cx="320040" cy="0"/>
          </a:xfrm>
          <a:prstGeom prst="line">
            <a:avLst/>
          </a:prstGeom>
          <a:noFill/>
          <a:ln w="15240">
            <a:solidFill>
              <a:srgbClr val="100D0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22960" y="60076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escreve/avança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2103120" y="6025896"/>
            <a:ext cx="182880" cy="109728"/>
          </a:xfrm>
          <a:prstGeom prst="rect">
            <a:avLst/>
          </a:prstGeom>
          <a:solidFill>
            <a:srgbClr val="EEEDEA"/>
          </a:solidFill>
          <a:ln w="6350">
            <a:solidFill>
              <a:srgbClr val="BEBAB2"/>
            </a:solidFill>
            <a:prstDash val="dash"/>
          </a:ln>
        </p:spPr>
      </p:sp>
      <p:sp>
        <p:nvSpPr>
          <p:cNvPr id="76" name="Text 74"/>
          <p:cNvSpPr/>
          <p:nvPr/>
        </p:nvSpPr>
        <p:spPr>
          <a:xfrm>
            <a:off x="2331720" y="6007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interno (fora do sistema)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297680" y="6025896"/>
            <a:ext cx="182880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8F6A2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26280" y="60076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carregadora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5623560" y="6025896"/>
            <a:ext cx="182880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567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852160" y="60076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validadora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6903720" y="6025896"/>
            <a:ext cx="182880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2F6B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32320" y="6007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operadora / consumidora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FLUXOGRAMA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 · Jurídico registra o contrato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Tela: + Criar (Assistente) · rota /criar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CARREGA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 assinado — informação vai ao sistema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310896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 o contrato assinado, o Jurídico transforma o papel em dados: contrato, cláusulas condição→efeito, remuneração inicial, contrapartes e aditivos. Nenhum valor realizado entra aqui — só o que está no contrato.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02920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Rota: /criar (funil único de entrada)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Escreve: ac_contratos, ac_clausulas, ac_remuneracoes</a:t>
            </a:r>
            <a:endParaRPr lang="en-US" sz="1250" dirty="0"/>
          </a:p>
          <a:p>
            <a:pPr marL="342900" indent="-342900">
              <a:buSzPct val="100000"/>
              <a:buChar char="–"/>
            </a:pPr>
            <a:r>
              <a:rPr lang="en-US" sz="125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Anexa: PDF do contrato em ac_documentos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120640" y="1965960"/>
            <a:ext cx="65836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D9D6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1965960"/>
            <a:ext cx="1371600" cy="4297680"/>
          </a:xfrm>
          <a:prstGeom prst="rect">
            <a:avLst/>
          </a:prstGeom>
          <a:solidFill>
            <a:srgbClr val="1A141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1488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57800" y="23774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Gestão Contratual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120640" y="2743200"/>
            <a:ext cx="1371600" cy="228600"/>
          </a:xfrm>
          <a:prstGeom prst="rect">
            <a:avLst/>
          </a:prstGeom>
          <a:solidFill>
            <a:srgbClr val="2A252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2743200"/>
            <a:ext cx="0" cy="228600"/>
          </a:xfrm>
          <a:prstGeom prst="line">
            <a:avLst/>
          </a:prstGeom>
          <a:noFill/>
          <a:ln w="25400">
            <a:solidFill>
              <a:srgbClr val="F3E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7800" y="276148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Criar (Assistente)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257800" y="30175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257800" y="327355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Atletas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57800" y="3657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6786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257800" y="39319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Visão por Atleta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57800" y="418795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Consolidado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57800" y="44439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Recuperação Judicial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92240" y="1965960"/>
            <a:ext cx="5212080" cy="4297680"/>
          </a:xfrm>
          <a:prstGeom prst="rect">
            <a:avLst/>
          </a:prstGeom>
          <a:solidFill>
            <a:srgbClr val="F3F2EF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2148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que você quer registrar?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20840" y="24688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Assistente de criação · Botafogo SAF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720840" y="2743200"/>
            <a:ext cx="4754880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0" y="2880360"/>
            <a:ext cx="22631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3720" y="3017520"/>
            <a:ext cx="198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03720" y="3291840"/>
            <a:ext cx="1988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Trabalho (CLT + imagem)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03720" y="3703320"/>
            <a:ext cx="1988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Salário, imagem, luvas, bônus.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66860" y="2880360"/>
            <a:ext cx="22631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04020" y="3017520"/>
            <a:ext cx="198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TRANSFERÊNCIA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304020" y="3291840"/>
            <a:ext cx="1988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Aquisição / Venda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304020" y="3703320"/>
            <a:ext cx="1988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Compra, venda, empréstimo, sell-on.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766560" y="4389120"/>
            <a:ext cx="22631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526280"/>
            <a:ext cx="198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CLÁUSULA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03720" y="4800600"/>
            <a:ext cx="1988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 de desempenho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903720" y="5212080"/>
            <a:ext cx="1988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Jogos, gols → obrigação ou reajuste.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166860" y="4389120"/>
            <a:ext cx="22631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04020" y="4526280"/>
            <a:ext cx="198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ADITIVO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304020" y="4800600"/>
            <a:ext cx="1988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Aditivo contratual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304020" y="5212080"/>
            <a:ext cx="1988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Renegociação, extensão, reajuste.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 · JURÍDICO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 · Sanity check antes do consumo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 + Assessor validam o registrado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Confirmam que o sistema espelha o contrato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310896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Antes de virar caixa e decisão, Controladoria e Assessor Financeiro fazem leitura crítica do que o Jurídico registrou. Objetivo: garantir que valor, moeda, contraparte, cronograma e ownership espelham o contrato assinado.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02920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Verifica exposição, moeda, ownership 100%, gatilhos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Nada é reescrito — apenas confirmado ou devolvido</a:t>
            </a:r>
            <a:endParaRPr lang="en-US" sz="1250" dirty="0"/>
          </a:p>
          <a:p>
            <a:pPr marL="342900" indent="-342900">
              <a:buSzPct val="100000"/>
              <a:buChar char="–"/>
            </a:pPr>
            <a:r>
              <a:rPr lang="en-US" sz="125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Rotas: /relatorios/visao-atletas, /atletas/:id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120640" y="1965960"/>
            <a:ext cx="65836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D9D6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1965960"/>
            <a:ext cx="1371600" cy="4297680"/>
          </a:xfrm>
          <a:prstGeom prst="rect">
            <a:avLst/>
          </a:prstGeom>
          <a:solidFill>
            <a:srgbClr val="1A141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1488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57800" y="23774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Gestão Contratual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257800" y="276148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Criar (Assistente)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257800" y="30175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257800" y="327355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Atletas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257800" y="3657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6786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120640" y="3913632"/>
            <a:ext cx="1371600" cy="228600"/>
          </a:xfrm>
          <a:prstGeom prst="rect">
            <a:avLst/>
          </a:prstGeom>
          <a:solidFill>
            <a:srgbClr val="2A2521"/>
          </a:solidFill>
          <a:ln/>
        </p:spPr>
      </p:sp>
      <p:sp>
        <p:nvSpPr>
          <p:cNvPr id="20" name="Shape 18"/>
          <p:cNvSpPr/>
          <p:nvPr/>
        </p:nvSpPr>
        <p:spPr>
          <a:xfrm>
            <a:off x="5120640" y="3913632"/>
            <a:ext cx="0" cy="228600"/>
          </a:xfrm>
          <a:prstGeom prst="line">
            <a:avLst/>
          </a:prstGeom>
          <a:noFill/>
          <a:ln w="25400">
            <a:solidFill>
              <a:srgbClr val="F3EE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39319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Visão por Atleta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57800" y="418795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Consolidado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57800" y="44439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Recuperação Judicial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92240" y="1965960"/>
            <a:ext cx="5212080" cy="4297680"/>
          </a:xfrm>
          <a:prstGeom prst="rect">
            <a:avLst/>
          </a:prstGeom>
          <a:solidFill>
            <a:srgbClr val="F3F2EF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2148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Visão por Atleta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20840" y="24688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 dos dados registrados · Botafogo SAF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720840" y="2743200"/>
            <a:ext cx="4754880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0840" y="2880360"/>
            <a:ext cx="15240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30568" y="2971800"/>
            <a:ext cx="1304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EXPOSIÇÃO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830568" y="3172968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€ 12,0 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30568" y="3474720"/>
            <a:ext cx="1304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 bate com contrato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336280" y="2880360"/>
            <a:ext cx="15240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46008" y="2971800"/>
            <a:ext cx="1304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OWNERSHIP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446008" y="3172968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100% BFR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446008" y="3474720"/>
            <a:ext cx="1304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 soma 100%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951720" y="2880360"/>
            <a:ext cx="15240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61448" y="2971800"/>
            <a:ext cx="1304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061448" y="3172968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 registrados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061448" y="3474720"/>
            <a:ext cx="1304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 condição + efeito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720840" y="3886200"/>
            <a:ext cx="4754880" cy="292608"/>
          </a:xfrm>
          <a:prstGeom prst="rect">
            <a:avLst/>
          </a:prstGeom>
          <a:solidFill>
            <a:srgbClr val="EEEDEA"/>
          </a:solidFill>
          <a:ln/>
        </p:spPr>
      </p:sp>
      <p:sp>
        <p:nvSpPr>
          <p:cNvPr id="41" name="Text 39"/>
          <p:cNvSpPr/>
          <p:nvPr/>
        </p:nvSpPr>
        <p:spPr>
          <a:xfrm>
            <a:off x="6775704" y="3913632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ITEM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330184" y="3913632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564624" y="3913632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SISTEMA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0799064" y="391363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775704" y="421538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Salário mensal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330184" y="4215384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9564624" y="4215384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0652760" y="4224528"/>
            <a:ext cx="914400" cy="182880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49" name="Text 47"/>
          <p:cNvSpPr/>
          <p:nvPr/>
        </p:nvSpPr>
        <p:spPr>
          <a:xfrm>
            <a:off x="10652760" y="4233672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720840" y="4434840"/>
            <a:ext cx="4754880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75704" y="4471416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Direito de imagem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330184" y="4471416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564624" y="4471416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0652760" y="4480560"/>
            <a:ext cx="914400" cy="182880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55" name="Text 53"/>
          <p:cNvSpPr/>
          <p:nvPr/>
        </p:nvSpPr>
        <p:spPr>
          <a:xfrm>
            <a:off x="10652760" y="4489704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720840" y="4690872"/>
            <a:ext cx="4754880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75704" y="4727448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Transferência (5×)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8330184" y="4727448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€ 10,0 M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64624" y="4727448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€ 10,0 M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652760" y="4736592"/>
            <a:ext cx="914400" cy="182880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61" name="Text 59"/>
          <p:cNvSpPr/>
          <p:nvPr/>
        </p:nvSpPr>
        <p:spPr>
          <a:xfrm>
            <a:off x="10652760" y="4745736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720840" y="4946904"/>
            <a:ext cx="4754880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75704" y="49834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Comissão agente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330184" y="4983480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€ 1,0 M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9564624" y="4983480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€ 1,0 M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0652760" y="4992624"/>
            <a:ext cx="914400" cy="182880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67" name="Text 65"/>
          <p:cNvSpPr/>
          <p:nvPr/>
        </p:nvSpPr>
        <p:spPr>
          <a:xfrm>
            <a:off x="10652760" y="5001768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6720840" y="5202936"/>
            <a:ext cx="4754880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75704" y="5239512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 10 jogos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30184" y="5239512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€ 500 k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9564624" y="5239512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€ 500 k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652760" y="5248656"/>
            <a:ext cx="914400" cy="182880"/>
          </a:xfrm>
          <a:prstGeom prst="rect">
            <a:avLst/>
          </a:prstGeom>
          <a:solidFill>
            <a:srgbClr val="F3EDD9"/>
          </a:solidFill>
          <a:ln/>
        </p:spPr>
      </p:sp>
      <p:sp>
        <p:nvSpPr>
          <p:cNvPr id="73" name="Text 71"/>
          <p:cNvSpPr/>
          <p:nvPr/>
        </p:nvSpPr>
        <p:spPr>
          <a:xfrm>
            <a:off x="10652760" y="525780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Contingente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720840" y="5458968"/>
            <a:ext cx="4754880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 · SANITY CHECK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 · Consumo contínuo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Quatro áreas, quatro propósitos, mesma base de dados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2682164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65960"/>
            <a:ext cx="2682164" cy="73152"/>
          </a:xfrm>
          <a:prstGeom prst="rect">
            <a:avLst/>
          </a:prstGeom>
          <a:solidFill>
            <a:srgbClr val="2F6B3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194560"/>
            <a:ext cx="2224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TESOURARIA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Caixa e realização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85800" y="2898648"/>
            <a:ext cx="457200" cy="0"/>
          </a:xfrm>
          <a:prstGeom prst="line">
            <a:avLst/>
          </a:prstGeom>
          <a:noFill/>
          <a:ln w="12700">
            <a:solidFill>
              <a:srgbClr val="2F6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017520"/>
            <a:ext cx="22249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 a informação a nível de caixa. Cuida de todas as parcelas — pagas, baixas e overdue.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51960"/>
            <a:ext cx="2224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Projeção de fluxo de caixa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Validação de câmbio e PTAX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Parcelas pagas e baixas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Overdue e alertas de atraso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Correção monetária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22244" y="1965960"/>
            <a:ext cx="2682164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22244" y="1965960"/>
            <a:ext cx="2682164" cy="73152"/>
          </a:xfrm>
          <a:prstGeom prst="rect">
            <a:avLst/>
          </a:prstGeom>
          <a:solidFill>
            <a:srgbClr val="1F5673"/>
          </a:solidFill>
          <a:ln/>
        </p:spPr>
      </p:sp>
      <p:sp>
        <p:nvSpPr>
          <p:cNvPr id="16" name="Text 14"/>
          <p:cNvSpPr/>
          <p:nvPr/>
        </p:nvSpPr>
        <p:spPr>
          <a:xfrm>
            <a:off x="3550844" y="2194560"/>
            <a:ext cx="2224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50844" y="246888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Forecast e realizado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550844" y="2898648"/>
            <a:ext cx="457200" cy="0"/>
          </a:xfrm>
          <a:prstGeom prst="line">
            <a:avLst/>
          </a:prstGeom>
          <a:noFill/>
          <a:ln w="12700">
            <a:solidFill>
              <a:srgbClr val="1F56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50844" y="3017520"/>
            <a:ext cx="22249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Usa a informação para projetar resultado e analisar o realizado da companhia.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550844" y="4251960"/>
            <a:ext cx="2224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Forecasts financeiros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Orçamentos futuros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Análise do resultado realizado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Orçado × realizado por rubrica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DRE gerencial por atleta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87288" y="1965960"/>
            <a:ext cx="2682164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7288" y="1965960"/>
            <a:ext cx="2682164" cy="73152"/>
          </a:xfrm>
          <a:prstGeom prst="rect">
            <a:avLst/>
          </a:prstGeom>
          <a:solidFill>
            <a:srgbClr val="8F6A2A"/>
          </a:solidFill>
          <a:ln/>
        </p:spPr>
      </p:sp>
      <p:sp>
        <p:nvSpPr>
          <p:cNvPr id="23" name="Text 21"/>
          <p:cNvSpPr/>
          <p:nvPr/>
        </p:nvSpPr>
        <p:spPr>
          <a:xfrm>
            <a:off x="6415888" y="2194560"/>
            <a:ext cx="2224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15888" y="246888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Risco contratual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415888" y="2898648"/>
            <a:ext cx="457200" cy="0"/>
          </a:xfrm>
          <a:prstGeom prst="line">
            <a:avLst/>
          </a:prstGeom>
          <a:noFill/>
          <a:ln w="12700">
            <a:solidFill>
              <a:srgbClr val="8F6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15888" y="3017520"/>
            <a:ext cx="22249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Checa gatilhos próximos e faz análise de risco sobre as obrigações.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15888" y="4251960"/>
            <a:ext cx="2224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Gatilhos que se aproximam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Vencimentos com risco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Obrigações mais críticas de atrasar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Cláusulas de default (atraso × dias)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Passivo contingente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052331" y="1965960"/>
            <a:ext cx="2682164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331" y="1965960"/>
            <a:ext cx="2682164" cy="73152"/>
          </a:xfrm>
          <a:prstGeom prst="rect">
            <a:avLst/>
          </a:prstGeom>
          <a:solidFill>
            <a:srgbClr val="8A6516"/>
          </a:solidFill>
          <a:ln/>
        </p:spPr>
      </p:sp>
      <p:sp>
        <p:nvSpPr>
          <p:cNvPr id="30" name="Text 28"/>
          <p:cNvSpPr/>
          <p:nvPr/>
        </p:nvSpPr>
        <p:spPr>
          <a:xfrm>
            <a:off x="9280931" y="2194560"/>
            <a:ext cx="2224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280931" y="246888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Decisão executiva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280931" y="2898648"/>
            <a:ext cx="457200" cy="0"/>
          </a:xfrm>
          <a:prstGeom prst="line">
            <a:avLst/>
          </a:prstGeom>
          <a:noFill/>
          <a:ln w="12700">
            <a:solidFill>
              <a:srgbClr val="8A651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0931" y="3017520"/>
            <a:ext cx="22249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Cria relatórios macro e submete para tomada de decisão do CEO e executivos.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280931" y="4251960"/>
            <a:ext cx="2224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Relatórios executivos consolidados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Cenários e simulações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Sell-on e mais-valia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Exposição consolidada por moeda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Apoio ao CEO e à diretoria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 · CONSUMO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Matriz de responsabilidade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 responsável · A aprova · C consultado · I informado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11094415" cy="3867912"/>
          </a:xfrm>
          <a:prstGeom prst="roundRect">
            <a:avLst>
              <a:gd name="adj" fmla="val 1891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48840"/>
            <a:ext cx="11094415" cy="347472"/>
          </a:xfrm>
          <a:prstGeom prst="rect">
            <a:avLst/>
          </a:prstGeom>
          <a:solidFill>
            <a:srgbClr val="EEEDE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48840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MÓDULO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705295" y="2148840"/>
            <a:ext cx="1234440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39735" y="2148840"/>
            <a:ext cx="1234440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TESOURARIA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74175" y="2148840"/>
            <a:ext cx="1234440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408615" y="2148840"/>
            <a:ext cx="1234440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496312"/>
            <a:ext cx="11094415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496312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Cadastro de atleta e contrapartes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05295" y="24963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939735" y="24963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74175" y="24963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408615" y="24963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2843784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843784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Contratos, aditivos e PDFs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705295" y="28437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39735" y="28437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74175" y="28437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08615" y="28437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191256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191256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Cláusulas condição→efeito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05295" y="31912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939735" y="31912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74175" y="31912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408615" y="31912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3538728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538728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Remuneração contratada (versionada)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705295" y="35387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939735" y="35387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174175" y="35387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408615" y="35387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388620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3886200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Obrigações financeiras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705295" y="38862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939735" y="38862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174175" y="38862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408615" y="38862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48640" y="4233672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4233672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Parcelas, pagamentos, câmbio e PTAX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6705295" y="423367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939735" y="423367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174175" y="423367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408615" y="423367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8640" y="4581144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4581144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Avaliação de gatilhos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705295" y="45811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39735" y="45811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174175" y="45811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0408615" y="45811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548640" y="4928616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8640" y="4928616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Contabilização e amortização de intangível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705295" y="492861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7939735" y="492861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174175" y="492861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10408615" y="492861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548640" y="5276088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8640" y="5276088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Recuperação judicial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6705295" y="52760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7939735" y="52760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9174175" y="52760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10408615" y="52760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548640" y="562356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48640" y="5623560"/>
            <a:ext cx="6156655" cy="347472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Relatórios estratégicos e cenários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6705295" y="56235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7939735" y="56235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9174175" y="56235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10408615" y="56235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MATRIZ RACI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Rollout em quatro fases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Cada fase reaproveita telas e tabelas já existentes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36444" cy="384048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2316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20878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Perfis e permissões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3794760"/>
            <a:ext cx="457200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977640"/>
            <a:ext cx="20878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Roles no Supabase (juridico, tesouraria, controladoria, assessor) e RLS por tabela. Escrita restrita ao dono do módulo; leitura ampla.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67964" y="2148840"/>
            <a:ext cx="2636444" cy="384048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42284" y="242316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42284" y="2788920"/>
            <a:ext cx="20878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Carga pelo Jurídico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42284" y="3794760"/>
            <a:ext cx="457200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42284" y="3977640"/>
            <a:ext cx="20878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Assistente (/criar) vira o funil único de entrada. Importação de planilhas restrita ao Jurídico para bootstrap do backlog contratual.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7288" y="2148840"/>
            <a:ext cx="2636444" cy="384048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61608" y="242316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61608" y="2788920"/>
            <a:ext cx="20878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 estruturado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61608" y="3794760"/>
            <a:ext cx="457200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1608" y="3977640"/>
            <a:ext cx="20878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 e Assessor Financeiro validam o registrado antes de virar operação. Tela de conciliação contrato × sistema.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06611" y="2148840"/>
            <a:ext cx="2636444" cy="384048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0931" y="242316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80931" y="2788920"/>
            <a:ext cx="20878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Consumo governado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280931" y="3794760"/>
            <a:ext cx="457200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0931" y="3977640"/>
            <a:ext cx="20878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Tesouraria, Controladoria, Jurídico e Assessor consomem o mesmo dado com propósitos distintos. Trilha de auditoria por parcela.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ROLLOUT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Fluxo de Input — Glorioso Contract</dc:title>
  <dc:subject>PptxGenJS Presentation</dc:subject>
  <dc:creator>Botafogo SAF</dc:creator>
  <cp:lastModifiedBy>Botafogo SAF</cp:lastModifiedBy>
  <cp:revision>1</cp:revision>
  <dcterms:created xsi:type="dcterms:W3CDTF">2026-08-13T14:05:24Z</dcterms:created>
  <dcterms:modified xsi:type="dcterms:W3CDTF">2026-08-13T14:05:24Z</dcterms:modified>
</cp:coreProperties>
</file>