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991295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PROPOSTA · v2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1277295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Fluxo de Input das Informações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Jurídico registra o contrato, Tesouraria opera as parcelas, Controladoria e Assessor Financeiro consomem os relatórios.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937760"/>
            <a:ext cx="268216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12064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Origem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544068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Contrato assinado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22244" y="4937760"/>
            <a:ext cx="268216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5124" y="512064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Quem registra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05124" y="544068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Jurídico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7288" y="4937760"/>
            <a:ext cx="268216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0168" y="512064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Quem opera o caixa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0168" y="544068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Tesouraria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52331" y="4937760"/>
            <a:ext cx="2682164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211" y="5120640"/>
            <a:ext cx="2316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Quem consome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35211" y="5440680"/>
            <a:ext cx="23164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Controladoria · Assessor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Documento interno · sujeito a validação com as áreas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 /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7295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Como a informação circula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Fluxograma · schema atleta-central no centro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103120" cy="777240"/>
          </a:xfrm>
          <a:prstGeom prst="rect">
            <a:avLst/>
          </a:prstGeom>
          <a:solidFill>
            <a:srgbClr val="EEEDEA"/>
          </a:solidFill>
          <a:ln w="12700">
            <a:solidFill>
              <a:srgbClr val="100D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DOCUMENTO DE ORIGEM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Contrato assinado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2286000"/>
            <a:ext cx="23774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F6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CARREGA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10896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Jurídico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Cláusulas, remuneração, aditivos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3172968"/>
            <a:ext cx="1005840" cy="0"/>
          </a:xfrm>
          <a:prstGeom prst="line">
            <a:avLst/>
          </a:prstGeom>
          <a:noFill/>
          <a:ln w="15875">
            <a:solidFill>
              <a:srgbClr val="100D0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97680" y="3291840"/>
            <a:ext cx="0" cy="502920"/>
          </a:xfrm>
          <a:prstGeom prst="line">
            <a:avLst/>
          </a:prstGeom>
          <a:noFill/>
          <a:ln w="15875">
            <a:solidFill>
              <a:srgbClr val="8F6A2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0" y="3520440"/>
            <a:ext cx="6248095" cy="1417320"/>
          </a:xfrm>
          <a:prstGeom prst="roundRect">
            <a:avLst>
              <a:gd name="adj" fmla="val 6452"/>
            </a:avLst>
          </a:prstGeom>
          <a:solidFill>
            <a:srgbClr val="F3F2EF"/>
          </a:solidFill>
          <a:ln w="17780">
            <a:solidFill>
              <a:srgbClr val="100D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3611880"/>
            <a:ext cx="6248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BANCO DE DADOS · SCHEMA ATLETA-CENTRAL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3931920"/>
            <a:ext cx="5699455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4023360"/>
            <a:ext cx="18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ac_atletas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4279392"/>
            <a:ext cx="18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ac_contratos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7520" y="4535424"/>
            <a:ext cx="18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ac_clausulas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17338" y="4023360"/>
            <a:ext cx="18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ac_remuneracoes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7338" y="4279392"/>
            <a:ext cx="18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ac_obrigacoes_financeiras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7338" y="4535424"/>
            <a:ext cx="18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ac_parcelas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17157" y="4023360"/>
            <a:ext cx="18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ac_entidades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7157" y="4279392"/>
            <a:ext cx="18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ac_ativos_intangiveis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7157" y="4535424"/>
            <a:ext cx="18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ac_documentos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8960" y="5257800"/>
            <a:ext cx="23774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6B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0896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108960" y="5623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Tesouraria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108960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Parcelas, câmbio, baixa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0" y="4937760"/>
            <a:ext cx="0" cy="320040"/>
          </a:xfrm>
          <a:prstGeom prst="line">
            <a:avLst/>
          </a:prstGeom>
          <a:noFill/>
          <a:ln w="15875">
            <a:solidFill>
              <a:srgbClr val="2F6B3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174175" y="2286000"/>
            <a:ext cx="23774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56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74175" y="2377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F56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CONSOME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74175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Controladoria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74175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Contábil · orçado × realizado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74175" y="5257800"/>
            <a:ext cx="237744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F56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4175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F56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CONSOME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74175" y="5623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Assessor Financeiro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174175" y="5943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Cenários, sell-on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362895" y="3291840"/>
            <a:ext cx="0" cy="1234440"/>
          </a:xfrm>
          <a:prstGeom prst="line">
            <a:avLst/>
          </a:prstGeom>
          <a:noFill/>
          <a:ln w="12700">
            <a:solidFill>
              <a:srgbClr val="6B645D"/>
            </a:solidFill>
            <a:prstDash val="dash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362895" y="5257800"/>
            <a:ext cx="0" cy="-640080"/>
          </a:xfrm>
          <a:prstGeom prst="line">
            <a:avLst/>
          </a:prstGeom>
          <a:noFill/>
          <a:ln w="12700">
            <a:solidFill>
              <a:srgbClr val="6B645D"/>
            </a:solidFill>
            <a:prstDash val="dash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48640" y="384048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F6A2A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548640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CONSOME · JURÍDICO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4206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Contingente, RJ, gatilhos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651760" y="4224528"/>
            <a:ext cx="640080" cy="0"/>
          </a:xfrm>
          <a:prstGeom prst="line">
            <a:avLst/>
          </a:prstGeom>
          <a:noFill/>
          <a:ln w="12700">
            <a:solidFill>
              <a:srgbClr val="6B645D"/>
            </a:solidFill>
            <a:prstDash val="dash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548640" y="6263640"/>
            <a:ext cx="365760" cy="0"/>
          </a:xfrm>
          <a:prstGeom prst="line">
            <a:avLst/>
          </a:prstGeom>
          <a:noFill/>
          <a:ln w="15875">
            <a:solidFill>
              <a:srgbClr val="100D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" y="61539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escreve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011680" y="6263640"/>
            <a:ext cx="365760" cy="0"/>
          </a:xfrm>
          <a:prstGeom prst="line">
            <a:avLst/>
          </a:prstGeom>
          <a:noFill/>
          <a:ln w="12700">
            <a:solidFill>
              <a:srgbClr val="6B645D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2423160" y="61539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lê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48095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FLUXOGRAMA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 /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7295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Passo 1 · Jurídico registra o contrato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Tela: + Criar (Assistente) · rota /criar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CARREGA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Registrar o contrato no Assistente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 entrada passa pelo mesmo funil. O Jurídico transforma o contrato em dados: contrato de trabalho, cláusulas condição→efeito, remuneração inicial, contrapartes e aditivos. Nenhum valor realizado entra aqui.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Rota: /criar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Escreve: ac_contratos, ac_clausulas, ac_remuneracoes</a:t>
            </a:r>
            <a:endParaRPr lang="en-US" sz="1250" dirty="0"/>
          </a:p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Anexa: PDF do contrato em ac_documentos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2103120"/>
            <a:ext cx="1371600" cy="4114800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25146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Gestão Contratual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0" y="2880360"/>
            <a:ext cx="1371600" cy="228600"/>
          </a:xfrm>
          <a:prstGeom prst="rect">
            <a:avLst/>
          </a:prstGeom>
          <a:solidFill>
            <a:srgbClr val="2A2521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2880360"/>
            <a:ext cx="0" cy="228600"/>
          </a:xfrm>
          <a:prstGeom prst="line">
            <a:avLst/>
          </a:prstGeom>
          <a:noFill/>
          <a:ln w="25400">
            <a:solidFill>
              <a:srgbClr val="F3EE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8986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Criar (Assistente)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3154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34107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Atletas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66360" y="3794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678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RELATÓRIOS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66360" y="40690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Visão por Atleta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6360" y="4325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Consolidado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45811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Recuperação Judicial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2103120"/>
            <a:ext cx="5303520" cy="41148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você quer registrar?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2606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Assistente de criação · Botafogo SAF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29400" y="2880360"/>
            <a:ext cx="4846320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3017520"/>
            <a:ext cx="23088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154680"/>
            <a:ext cx="2034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12280" y="3429000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Trabalho (CLT + imagem)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12280" y="376732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Salário, imagem, luvas, bônus.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21140" y="3017520"/>
            <a:ext cx="23088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58300" y="3154680"/>
            <a:ext cx="2034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TRANSFERÊNCIA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258300" y="3429000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Aquisição / Venda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58300" y="376732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Compra, venda, empréstimo, sell-on.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75120" y="4389120"/>
            <a:ext cx="23088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12280" y="4526280"/>
            <a:ext cx="2034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CLÁUSULA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12280" y="4800600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Gatilho de desempenho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12280" y="513892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Jogos, gols → obrigação ou reajuste.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21140" y="4389120"/>
            <a:ext cx="23088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58300" y="4526280"/>
            <a:ext cx="20345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ADITIVO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58300" y="4800600"/>
            <a:ext cx="20345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Aditivo contratual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258300" y="5138928"/>
            <a:ext cx="20345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Renegociação, extensão, reajuste.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48095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PASSO 1 · JURÍDICO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 /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7295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Passo 2 · Tesouraria opera as parcelas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Tela: Consolidado · rota /relatorios/consolidado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Registrar câmbio, baixa e status das parcelas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Tesouraria não toca cláusula nem valor contratado. Transforma cada obrigação em cronograma de pagamento, aplica PTAX, registra baixas e o efeito financeiro dos gatilhos apurados.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Rota: /relatorios/consolidado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Escreve: ac_parcelas (status, câmbio, correção)</a:t>
            </a:r>
            <a:endParaRPr lang="en-US" sz="1250" dirty="0"/>
          </a:p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Alertas: vencimento, atraso, gatilho a apurar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2103120"/>
            <a:ext cx="1371600" cy="4114800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25146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Gestão Contratual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28986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Criar (Assistente)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3154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66360" y="34107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Atletas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3794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678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RELATÓRIOS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66360" y="40690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Visão por Atleta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4306824"/>
            <a:ext cx="1371600" cy="228600"/>
          </a:xfrm>
          <a:prstGeom prst="rect">
            <a:avLst/>
          </a:prstGeom>
          <a:solidFill>
            <a:srgbClr val="2A2521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0" y="4306824"/>
            <a:ext cx="0" cy="228600"/>
          </a:xfrm>
          <a:prstGeom prst="line">
            <a:avLst/>
          </a:prstGeom>
          <a:noFill/>
          <a:ln w="25400">
            <a:solidFill>
              <a:srgbClr val="F3EE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4325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Consolidado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45811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Recuperação Judicial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2103120"/>
            <a:ext cx="5303520" cy="41148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Consolidado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2606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Todas as movimentações financeiras · Botafogo SAF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29400" y="2880360"/>
            <a:ext cx="4846320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3017520"/>
            <a:ext cx="4846320" cy="292608"/>
          </a:xfrm>
          <a:prstGeom prst="rect">
            <a:avLst/>
          </a:prstGeom>
          <a:solidFill>
            <a:srgbClr val="EEEDEA"/>
          </a:solidFill>
          <a:ln w="12700">
            <a:solidFill>
              <a:srgbClr val="D9D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84264" y="304495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VENCIMENTO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90104" y="304495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ATLETA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695944" y="3044952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NATUREZA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930384" y="3044952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981944" y="304495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987784" y="3044952"/>
            <a:ext cx="850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STATUS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84264" y="33467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05/09/2026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690104" y="33467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João Silva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95944" y="334670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Salário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930384" y="3346704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R$ 600.000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981944" y="33467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600.000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2001500" y="3355848"/>
            <a:ext cx="822960" cy="182880"/>
          </a:xfrm>
          <a:prstGeom prst="rect">
            <a:avLst/>
          </a:prstGeom>
          <a:solidFill>
            <a:srgbClr val="F3EDD9"/>
          </a:solidFill>
          <a:ln w="12700">
            <a:solidFill>
              <a:srgbClr val="F3ED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001500" y="336499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Vence 5d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29400" y="3584448"/>
            <a:ext cx="4846320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84264" y="3621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10/09/2026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690104" y="3621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João Silva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695944" y="362102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Imagem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930384" y="3621024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R$ 600.000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981944" y="362102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600.000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2001500" y="3630168"/>
            <a:ext cx="822960" cy="182880"/>
          </a:xfrm>
          <a:prstGeom prst="rect">
            <a:avLst/>
          </a:prstGeom>
          <a:solidFill>
            <a:srgbClr val="F3EDD9"/>
          </a:solidFill>
          <a:ln w="12700">
            <a:solidFill>
              <a:srgbClr val="F3ED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001500" y="363931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5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Vence 10d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629400" y="3858768"/>
            <a:ext cx="4846320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84264" y="389534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01/10/2026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690104" y="389534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João Silva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695944" y="389534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Transferência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930384" y="3895344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€ 2.000.000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981944" y="389534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12.400.000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2001500" y="3904488"/>
            <a:ext cx="822960" cy="182880"/>
          </a:xfrm>
          <a:prstGeom prst="rect">
            <a:avLst/>
          </a:prstGeom>
          <a:solidFill>
            <a:srgbClr val="E1EAF0"/>
          </a:solidFill>
          <a:ln w="12700">
            <a:solidFill>
              <a:srgbClr val="E1EA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001500" y="391363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6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Pendente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629400" y="4133088"/>
            <a:ext cx="4846320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84264" y="416966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15/10/2026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690104" y="416966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João Silva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695944" y="416966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Comissão agente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9930384" y="4169664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€ 100.000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0981944" y="416966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620.000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2001500" y="4178808"/>
            <a:ext cx="822960" cy="182880"/>
          </a:xfrm>
          <a:prstGeom prst="rect">
            <a:avLst/>
          </a:prstGeom>
          <a:solidFill>
            <a:srgbClr val="E1EAF0"/>
          </a:solidFill>
          <a:ln w="12700">
            <a:solidFill>
              <a:srgbClr val="E1EA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2001500" y="418795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56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Pendente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629400" y="4407408"/>
            <a:ext cx="4846320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84264" y="444398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25/08/2026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690104" y="444398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João Silva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695944" y="444398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Solidariedade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9930384" y="4443984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€ 200.000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0981944" y="444398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1.240.000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2001500" y="4453128"/>
            <a:ext cx="822960" cy="182880"/>
          </a:xfrm>
          <a:prstGeom prst="rect">
            <a:avLst/>
          </a:prstGeom>
          <a:solidFill>
            <a:srgbClr val="F3E6E2"/>
          </a:solidFill>
          <a:ln w="12700">
            <a:solidFill>
              <a:srgbClr val="F3E6E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001500" y="446227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352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Vencida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629400" y="4681728"/>
            <a:ext cx="4846320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84264" y="47183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31/07/2026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690104" y="47183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João Silva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8695944" y="4718304"/>
            <a:ext cx="1124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Salário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930384" y="4718304"/>
            <a:ext cx="94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R$ 600.000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10981944" y="4718304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600.000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2001500" y="4727448"/>
            <a:ext cx="822960" cy="182880"/>
          </a:xfrm>
          <a:prstGeom prst="rect">
            <a:avLst/>
          </a:prstGeom>
          <a:solidFill>
            <a:srgbClr val="E6EDE6"/>
          </a:solidFill>
          <a:ln w="12700">
            <a:solidFill>
              <a:srgbClr val="E6EDE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2001500" y="4736592"/>
            <a:ext cx="8229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Paga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629400" y="4956048"/>
            <a:ext cx="4846320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248095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PASSO 2 · TESOURARIA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 /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7295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Passo 3 · Controladoria reconcilia contábil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Tela: Ficha do Atleta · rota /atletas/:id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56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CONSOME · ESCREVE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Camada contábil sobre o dado já registrado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Lê o que Jurídico e Tesouraria escreveram e adiciona rubrica, conta contábil, centro de custo, tratamento (capitalizar × despesa) e o cronograma de amortização do intangível.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9377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Rota: /relatorios/visao-atletas, /atletas/:id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–"/>
            </a:pPr>
            <a:r>
              <a:rPr lang="en-US" sz="125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Escreve: campos contábeis em ac_obrigacoes_financeiras</a:t>
            </a:r>
            <a:endParaRPr lang="en-US" sz="1250" dirty="0"/>
          </a:p>
          <a:p>
            <a:pPr marL="342900" indent="-342900">
              <a:buSzPct val="100000"/>
              <a:buChar char="–"/>
            </a:pPr>
            <a:r>
              <a:rPr lang="en-US" sz="125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Lê: intangível, amortização, DRE por atleta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0" y="210312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9525">
            <a:solidFill>
              <a:srgbClr val="D9D6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2103120"/>
            <a:ext cx="1371600" cy="4114800"/>
          </a:xfrm>
          <a:prstGeom prst="rect">
            <a:avLst/>
          </a:prstGeom>
          <a:solidFill>
            <a:srgbClr val="1A1410"/>
          </a:solidFill>
          <a:ln w="12700">
            <a:solidFill>
              <a:srgbClr val="1A141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25146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Gestão Contratual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66360" y="28986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Criar (Assistente)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66360" y="3154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66360" y="34107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Atletas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3794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6786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RELATÓRIOS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0" y="4050792"/>
            <a:ext cx="1371600" cy="228600"/>
          </a:xfrm>
          <a:prstGeom prst="rect">
            <a:avLst/>
          </a:prstGeom>
          <a:solidFill>
            <a:srgbClr val="2A2521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0" y="4050792"/>
            <a:ext cx="0" cy="228600"/>
          </a:xfrm>
          <a:prstGeom prst="line">
            <a:avLst/>
          </a:prstGeom>
          <a:noFill/>
          <a:ln w="25400">
            <a:solidFill>
              <a:srgbClr val="F3EE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40690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Visão por Atleta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66360" y="432511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Consolidado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45811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69C8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Recuperação Judicial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0" y="2103120"/>
            <a:ext cx="5303520" cy="4114800"/>
          </a:xfrm>
          <a:prstGeom prst="rect">
            <a:avLst/>
          </a:prstGeom>
          <a:solidFill>
            <a:srgbClr val="F3F2EF"/>
          </a:solidFill>
          <a:ln w="12700">
            <a:solidFill>
              <a:srgbClr val="F3F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2286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João Silva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29400" y="26060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Ficha do atleta · Botafogo SAF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29400" y="2880360"/>
            <a:ext cx="4846320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9400" y="3017520"/>
            <a:ext cx="1143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39128" y="3090672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EXPOSIÇÃO TOTAL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39128" y="3291840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€ 12,0 M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863840" y="3017520"/>
            <a:ext cx="1143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73568" y="3090672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FIRME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73568" y="3291840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€ 11,5 M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098280" y="3017520"/>
            <a:ext cx="1143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08008" y="3090672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CONTINGENTE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208008" y="3291840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51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€ 0,5 M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332720" y="3017520"/>
            <a:ext cx="11430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42448" y="3090672"/>
            <a:ext cx="923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INTANGÍVEL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442448" y="3291840"/>
            <a:ext cx="923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R$ 61,0 M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629400" y="3886200"/>
            <a:ext cx="4846320" cy="256032"/>
          </a:xfrm>
          <a:prstGeom prst="rect">
            <a:avLst/>
          </a:prstGeom>
          <a:solidFill>
            <a:srgbClr val="EEEDEA"/>
          </a:solidFill>
          <a:ln w="12700">
            <a:solidFill>
              <a:srgbClr val="D9D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84264" y="3913632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COMPONENTE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64424" y="3913632"/>
            <a:ext cx="22677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VIGÊNCIA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341864" y="3913632"/>
            <a:ext cx="1078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530584" y="3913632"/>
            <a:ext cx="-109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ORIGEM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684264" y="4178808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Salário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964424" y="417880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01/11/2024 → 31/10/2026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341864" y="4178808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R$ 600.000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530584" y="4178808"/>
            <a:ext cx="-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Contrato inicial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629400" y="4398264"/>
            <a:ext cx="4846320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84264" y="4434840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Salário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964424" y="443484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01/11/2026 → vigente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341864" y="4434840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R$ 700.000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1530584" y="4434840"/>
            <a:ext cx="-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Gatilho 30 gols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29400" y="4654296"/>
            <a:ext cx="4846320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84264" y="469087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Imagem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964424" y="46908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01/11/2024 → 31/10/2026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0341864" y="469087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R$ 600.000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1530584" y="4690872"/>
            <a:ext cx="-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Contrato inicial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629400" y="4910328"/>
            <a:ext cx="4846320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84264" y="4946904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Imagem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964424" y="494690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01/11/2026 → vigente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341864" y="4946904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R$ 700.000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1530584" y="4946904"/>
            <a:ext cx="-109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Gatilho 30 gols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629400" y="5166360"/>
            <a:ext cx="4846320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48095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PASSO 3 · CONTROLADORIA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/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7295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Matriz de responsabilidade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 responsável · A aprova · C consultado · I informado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4415" cy="3867912"/>
          </a:xfrm>
          <a:prstGeom prst="roundRect">
            <a:avLst>
              <a:gd name="adj" fmla="val 1891"/>
            </a:avLst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48840"/>
            <a:ext cx="11094415" cy="347472"/>
          </a:xfrm>
          <a:prstGeom prst="rect">
            <a:avLst/>
          </a:prstGeom>
          <a:solidFill>
            <a:srgbClr val="EEEDEA"/>
          </a:solidFill>
          <a:ln w="12700">
            <a:solidFill>
              <a:srgbClr val="D9D6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MÓDULO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05295" y="2148840"/>
            <a:ext cx="1234440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JURÍDICO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39735" y="2148840"/>
            <a:ext cx="1234440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TESOURARIA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74175" y="2148840"/>
            <a:ext cx="1234440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CONTROLADORIA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408615" y="2148840"/>
            <a:ext cx="1234440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ASSESSOR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496312"/>
            <a:ext cx="11094415" cy="0"/>
          </a:xfrm>
          <a:prstGeom prst="line">
            <a:avLst/>
          </a:prstGeom>
          <a:noFill/>
          <a:ln w="9525">
            <a:solidFill>
              <a:srgbClr val="BEBA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96312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Cadastro de atleta e contrapartes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05295" y="2496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39735" y="2496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74175" y="2496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408615" y="249631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2843784"/>
            <a:ext cx="11094415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843784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Contratos, aditivos e PDFs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05295" y="2843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39735" y="2843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74175" y="2843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08615" y="284378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191256"/>
            <a:ext cx="11094415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191256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Cláusulas condição→efeito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05295" y="3191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39735" y="3191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74175" y="3191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408615" y="31912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3538728"/>
            <a:ext cx="11094415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538728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Remuneração contratada (versionada)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05295" y="35387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939735" y="35387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74175" y="35387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408615" y="353872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3886200"/>
            <a:ext cx="11094415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886200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Obrigações financeiras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705295" y="3886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939735" y="3886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74175" y="3886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673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408615" y="388620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48640" y="4233672"/>
            <a:ext cx="11094415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233672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Parcelas, pagamentos, câmbio e PTAX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705295" y="4233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939735" y="4233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174175" y="4233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0408615" y="423367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48640" y="4581144"/>
            <a:ext cx="11094415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581144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Avaliação de gatilhos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705295" y="45811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939735" y="45811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9174175" y="45811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0408615" y="4581144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48640" y="4928616"/>
            <a:ext cx="11094415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928616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Contabilização e amortização de intangível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705295" y="49286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939735" y="49286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174175" y="49286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0408615" y="49286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48640" y="5276088"/>
            <a:ext cx="11094415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5276088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Recuperação judicial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6705295" y="52760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939735" y="52760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9174175" y="52760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10408615" y="52760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48640" y="5623560"/>
            <a:ext cx="11094415" cy="0"/>
          </a:xfrm>
          <a:prstGeom prst="line">
            <a:avLst/>
          </a:prstGeom>
          <a:noFill/>
          <a:ln w="5080">
            <a:solidFill>
              <a:srgbClr val="D9D6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5623560"/>
            <a:ext cx="6156655" cy="34747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Relatórios estratégicos e cenários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6705295" y="56235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7939735" y="56235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B4A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9174175" y="56235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3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10408615" y="56235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248095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MATRIZ RACI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362895" y="320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 / 07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1277295" cy="0"/>
          </a:xfrm>
          <a:prstGeom prst="line">
            <a:avLst/>
          </a:prstGeom>
          <a:noFill/>
          <a:ln w="9525">
            <a:solidFill>
              <a:srgbClr val="D9D6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Rollout em quatro fases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 fase reaproveita telas e tabelas já existentes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36444" cy="384048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42316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20878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Perfis e permissões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794760"/>
            <a:ext cx="457200" cy="0"/>
          </a:xfrm>
          <a:prstGeom prst="line">
            <a:avLst/>
          </a:prstGeom>
          <a:noFill/>
          <a:ln w="9525">
            <a:solidFill>
              <a:srgbClr val="BEBA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77640"/>
            <a:ext cx="20878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Roles no Supabase (juridico, tesouraria, controladoria, assessor) e RLS por tabela. Escrita restrita ao dono do módulo; leitura ampla.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7964" y="2148840"/>
            <a:ext cx="2636444" cy="384048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2284" y="242316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FASE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42284" y="2788920"/>
            <a:ext cx="20878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Carga pelo Jurídico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642284" y="3794760"/>
            <a:ext cx="457200" cy="0"/>
          </a:xfrm>
          <a:prstGeom prst="line">
            <a:avLst/>
          </a:prstGeom>
          <a:noFill/>
          <a:ln w="9525">
            <a:solidFill>
              <a:srgbClr val="BEBA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2284" y="3977640"/>
            <a:ext cx="20878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Assistente (/criar) vira o funil único de entrada. Importação de planilhas restrita ao Jurídico para bootstrap do backlog contratual.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7288" y="2148840"/>
            <a:ext cx="2636444" cy="384048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61608" y="242316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FASE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61608" y="2788920"/>
            <a:ext cx="20878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Tesouraria assume o caixa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61608" y="3794760"/>
            <a:ext cx="457200" cy="0"/>
          </a:xfrm>
          <a:prstGeom prst="line">
            <a:avLst/>
          </a:prstGeom>
          <a:noFill/>
          <a:ln w="9525">
            <a:solidFill>
              <a:srgbClr val="BEBA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1608" y="3977640"/>
            <a:ext cx="20878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Baixa, câmbio e correção nas parcelas com trilha de auditoria por linha. Alertas de vencimento e de gatilhos a apurar.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06611" y="2148840"/>
            <a:ext cx="2636444" cy="3840480"/>
          </a:xfrm>
          <a:prstGeom prst="roundRect">
            <a:avLst>
              <a:gd name="adj" fmla="val 2081"/>
            </a:avLst>
          </a:prstGeom>
          <a:solidFill>
            <a:srgbClr val="FFFFFF"/>
          </a:solidFill>
          <a:ln w="6350">
            <a:solidFill>
              <a:srgbClr val="D9D6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0931" y="2423160"/>
            <a:ext cx="20878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6A2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FASE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80931" y="2788920"/>
            <a:ext cx="20878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0D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Consumo governado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280931" y="3794760"/>
            <a:ext cx="457200" cy="0"/>
          </a:xfrm>
          <a:prstGeom prst="line">
            <a:avLst/>
          </a:prstGeom>
          <a:noFill/>
          <a:ln w="9525">
            <a:solidFill>
              <a:srgbClr val="BEBA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0931" y="3977640"/>
            <a:ext cx="20878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Consolidado, Sell-on, Direitos Econômicos, Gatilhos e Recuperação Judicial passam a ler dado com dono, não digitado ad-hoc.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6350">
            <a:solidFill>
              <a:srgbClr val="D9D6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Botafogo SAF · Gestão Contratual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248095" y="6492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5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ROLLOUT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de Input — Glorioso Contract</dc:title>
  <dc:subject>PptxGenJS Presentation</dc:subject>
  <dc:creator>Botafogo SAF</dc:creator>
  <cp:lastModifiedBy>Botafogo SAF</cp:lastModifiedBy>
  <cp:revision>1</cp:revision>
  <dcterms:created xsi:type="dcterms:W3CDTF">2026-08-13T13:17:42Z</dcterms:created>
  <dcterms:modified xsi:type="dcterms:W3CDTF">2026-08-13T13:17:42Z</dcterms:modified>
</cp:coreProperties>
</file>